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17" r:id="rId1"/>
  </p:sldMasterIdLst>
  <p:notesMasterIdLst>
    <p:notesMasterId r:id="rId44"/>
  </p:notesMasterIdLst>
  <p:sldIdLst>
    <p:sldId id="330" r:id="rId2"/>
    <p:sldId id="259" r:id="rId3"/>
    <p:sldId id="386" r:id="rId4"/>
    <p:sldId id="315" r:id="rId5"/>
    <p:sldId id="324" r:id="rId6"/>
    <p:sldId id="314" r:id="rId7"/>
    <p:sldId id="261" r:id="rId8"/>
    <p:sldId id="355" r:id="rId9"/>
    <p:sldId id="280" r:id="rId10"/>
    <p:sldId id="281" r:id="rId11"/>
    <p:sldId id="357" r:id="rId12"/>
    <p:sldId id="328" r:id="rId13"/>
    <p:sldId id="387" r:id="rId14"/>
    <p:sldId id="388" r:id="rId15"/>
    <p:sldId id="391" r:id="rId16"/>
    <p:sldId id="389" r:id="rId17"/>
    <p:sldId id="390" r:id="rId18"/>
    <p:sldId id="359" r:id="rId19"/>
    <p:sldId id="360" r:id="rId20"/>
    <p:sldId id="361" r:id="rId21"/>
    <p:sldId id="363" r:id="rId22"/>
    <p:sldId id="362" r:id="rId23"/>
    <p:sldId id="366" r:id="rId24"/>
    <p:sldId id="367" r:id="rId25"/>
    <p:sldId id="368" r:id="rId26"/>
    <p:sldId id="369" r:id="rId27"/>
    <p:sldId id="370" r:id="rId28"/>
    <p:sldId id="371" r:id="rId29"/>
    <p:sldId id="372" r:id="rId30"/>
    <p:sldId id="373" r:id="rId31"/>
    <p:sldId id="374" r:id="rId32"/>
    <p:sldId id="375" r:id="rId33"/>
    <p:sldId id="376" r:id="rId34"/>
    <p:sldId id="377" r:id="rId35"/>
    <p:sldId id="378" r:id="rId36"/>
    <p:sldId id="380" r:id="rId37"/>
    <p:sldId id="381" r:id="rId38"/>
    <p:sldId id="382" r:id="rId39"/>
    <p:sldId id="383" r:id="rId40"/>
    <p:sldId id="384" r:id="rId41"/>
    <p:sldId id="385" r:id="rId42"/>
    <p:sldId id="329" r:id="rId43"/>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bg1"/>
        </a:solidFill>
        <a:latin typeface="Times New Roman" pitchFamily="18" charset="0"/>
        <a:ea typeface="Lucida Sans Unicode" pitchFamily="34" charset="0"/>
        <a:cs typeface="Lucida Sans Unicode" pitchFamily="34" charset="0"/>
      </a:defRPr>
    </a:lvl1pPr>
    <a:lvl2pPr marL="457200" algn="l" rtl="0" eaLnBrk="0" fontAlgn="base" hangingPunct="0">
      <a:spcBef>
        <a:spcPct val="0"/>
      </a:spcBef>
      <a:spcAft>
        <a:spcPct val="0"/>
      </a:spcAft>
      <a:defRPr kern="1200">
        <a:solidFill>
          <a:schemeClr val="bg1"/>
        </a:solidFill>
        <a:latin typeface="Times New Roman" pitchFamily="18" charset="0"/>
        <a:ea typeface="Lucida Sans Unicode" pitchFamily="34" charset="0"/>
        <a:cs typeface="Lucida Sans Unicode" pitchFamily="34" charset="0"/>
      </a:defRPr>
    </a:lvl2pPr>
    <a:lvl3pPr marL="914400" algn="l" rtl="0" eaLnBrk="0" fontAlgn="base" hangingPunct="0">
      <a:spcBef>
        <a:spcPct val="0"/>
      </a:spcBef>
      <a:spcAft>
        <a:spcPct val="0"/>
      </a:spcAft>
      <a:defRPr kern="1200">
        <a:solidFill>
          <a:schemeClr val="bg1"/>
        </a:solidFill>
        <a:latin typeface="Times New Roman" pitchFamily="18" charset="0"/>
        <a:ea typeface="Lucida Sans Unicode" pitchFamily="34" charset="0"/>
        <a:cs typeface="Lucida Sans Unicode" pitchFamily="34" charset="0"/>
      </a:defRPr>
    </a:lvl3pPr>
    <a:lvl4pPr marL="1371600" algn="l" rtl="0" eaLnBrk="0" fontAlgn="base" hangingPunct="0">
      <a:spcBef>
        <a:spcPct val="0"/>
      </a:spcBef>
      <a:spcAft>
        <a:spcPct val="0"/>
      </a:spcAft>
      <a:defRPr kern="1200">
        <a:solidFill>
          <a:schemeClr val="bg1"/>
        </a:solidFill>
        <a:latin typeface="Times New Roman" pitchFamily="18" charset="0"/>
        <a:ea typeface="Lucida Sans Unicode" pitchFamily="34" charset="0"/>
        <a:cs typeface="Lucida Sans Unicode" pitchFamily="34" charset="0"/>
      </a:defRPr>
    </a:lvl4pPr>
    <a:lvl5pPr marL="1828800" algn="l" rtl="0" eaLnBrk="0" fontAlgn="base" hangingPunct="0">
      <a:spcBef>
        <a:spcPct val="0"/>
      </a:spcBef>
      <a:spcAft>
        <a:spcPct val="0"/>
      </a:spcAft>
      <a:defRPr kern="1200">
        <a:solidFill>
          <a:schemeClr val="bg1"/>
        </a:solidFill>
        <a:latin typeface="Times New Roman" pitchFamily="18" charset="0"/>
        <a:ea typeface="Lucida Sans Unicode" pitchFamily="34" charset="0"/>
        <a:cs typeface="Lucida Sans Unicode" pitchFamily="34" charset="0"/>
      </a:defRPr>
    </a:lvl5pPr>
    <a:lvl6pPr marL="2286000" algn="l" defTabSz="914400" rtl="0" eaLnBrk="1" latinLnBrk="0" hangingPunct="1">
      <a:defRPr kern="1200">
        <a:solidFill>
          <a:schemeClr val="bg1"/>
        </a:solidFill>
        <a:latin typeface="Times New Roman" pitchFamily="18" charset="0"/>
        <a:ea typeface="Lucida Sans Unicode" pitchFamily="34" charset="0"/>
        <a:cs typeface="Lucida Sans Unicode" pitchFamily="34" charset="0"/>
      </a:defRPr>
    </a:lvl6pPr>
    <a:lvl7pPr marL="2743200" algn="l" defTabSz="914400" rtl="0" eaLnBrk="1" latinLnBrk="0" hangingPunct="1">
      <a:defRPr kern="1200">
        <a:solidFill>
          <a:schemeClr val="bg1"/>
        </a:solidFill>
        <a:latin typeface="Times New Roman" pitchFamily="18" charset="0"/>
        <a:ea typeface="Lucida Sans Unicode" pitchFamily="34" charset="0"/>
        <a:cs typeface="Lucida Sans Unicode" pitchFamily="34" charset="0"/>
      </a:defRPr>
    </a:lvl7pPr>
    <a:lvl8pPr marL="3200400" algn="l" defTabSz="914400" rtl="0" eaLnBrk="1" latinLnBrk="0" hangingPunct="1">
      <a:defRPr kern="1200">
        <a:solidFill>
          <a:schemeClr val="bg1"/>
        </a:solidFill>
        <a:latin typeface="Times New Roman" pitchFamily="18" charset="0"/>
        <a:ea typeface="Lucida Sans Unicode" pitchFamily="34" charset="0"/>
        <a:cs typeface="Lucida Sans Unicode" pitchFamily="34" charset="0"/>
      </a:defRPr>
    </a:lvl8pPr>
    <a:lvl9pPr marL="3657600" algn="l" defTabSz="914400" rtl="0" eaLnBrk="1" latinLnBrk="0" hangingPunct="1">
      <a:defRPr kern="1200">
        <a:solidFill>
          <a:schemeClr val="bg1"/>
        </a:solidFill>
        <a:latin typeface="Times New Roman" pitchFamily="18" charset="0"/>
        <a:ea typeface="Lucida Sans Unicode" pitchFamily="34" charset="0"/>
        <a:cs typeface="Lucida Sans Unicode"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8" autoAdjust="0"/>
    <p:restoredTop sz="94598" autoAdjust="0"/>
  </p:normalViewPr>
  <p:slideViewPr>
    <p:cSldViewPr>
      <p:cViewPr varScale="1">
        <p:scale>
          <a:sx n="70" d="100"/>
          <a:sy n="70" d="100"/>
        </p:scale>
        <p:origin x="1380" y="72"/>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AutoShape 1"/>
          <p:cNvSpPr>
            <a:spLocks noChangeArrowheads="1"/>
          </p:cNvSpPr>
          <p:nvPr/>
        </p:nvSpPr>
        <p:spPr bwMode="auto">
          <a:xfrm>
            <a:off x="0" y="0"/>
            <a:ext cx="6858000" cy="9144000"/>
          </a:xfrm>
          <a:prstGeom prst="roundRect">
            <a:avLst>
              <a:gd name="adj" fmla="val 23"/>
            </a:avLst>
          </a:prstGeom>
          <a:solidFill>
            <a:srgbClr val="FFFFFF"/>
          </a:solidFill>
          <a:ln w="9360">
            <a:noFill/>
            <a:round/>
            <a:headEnd/>
            <a:tailEnd/>
          </a:ln>
        </p:spPr>
        <p:txBody>
          <a:bodyPr wrap="none" anchor="ctr"/>
          <a:lstStyle/>
          <a:p>
            <a:pPr>
              <a:defRPr/>
            </a:pPr>
            <a:endParaRPr lang="en-US">
              <a:ea typeface="+mn-ea"/>
              <a:cs typeface="+mn-cs"/>
            </a:endParaRPr>
          </a:p>
        </p:txBody>
      </p:sp>
      <p:sp>
        <p:nvSpPr>
          <p:cNvPr id="3074" name="AutoShape 2"/>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ea typeface="+mn-ea"/>
              <a:cs typeface="+mn-cs"/>
            </a:endParaRPr>
          </a:p>
        </p:txBody>
      </p:sp>
      <p:sp>
        <p:nvSpPr>
          <p:cNvPr id="3075" name="AutoShape 3"/>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ea typeface="+mn-ea"/>
              <a:cs typeface="+mn-cs"/>
            </a:endParaRPr>
          </a:p>
        </p:txBody>
      </p:sp>
      <p:sp>
        <p:nvSpPr>
          <p:cNvPr id="3076" name="AutoShape 4"/>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ea typeface="+mn-ea"/>
              <a:cs typeface="+mn-cs"/>
            </a:endParaRPr>
          </a:p>
        </p:txBody>
      </p:sp>
      <p:sp>
        <p:nvSpPr>
          <p:cNvPr id="3077" name="AutoShape 5"/>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ea typeface="+mn-ea"/>
              <a:cs typeface="+mn-cs"/>
            </a:endParaRPr>
          </a:p>
        </p:txBody>
      </p:sp>
      <p:sp>
        <p:nvSpPr>
          <p:cNvPr id="3078" name="AutoShape 6"/>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ea typeface="+mn-ea"/>
              <a:cs typeface="+mn-cs"/>
            </a:endParaRPr>
          </a:p>
        </p:txBody>
      </p:sp>
      <p:sp>
        <p:nvSpPr>
          <p:cNvPr id="3079" name="AutoShape 7"/>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ea typeface="+mn-ea"/>
              <a:cs typeface="+mn-cs"/>
            </a:endParaRPr>
          </a:p>
        </p:txBody>
      </p:sp>
      <p:sp>
        <p:nvSpPr>
          <p:cNvPr id="3080" name="AutoShape 8"/>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ea typeface="+mn-ea"/>
              <a:cs typeface="+mn-cs"/>
            </a:endParaRPr>
          </a:p>
        </p:txBody>
      </p:sp>
      <p:sp>
        <p:nvSpPr>
          <p:cNvPr id="48138" name="Rectangle 9"/>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w="9525">
            <a:solidFill>
              <a:srgbClr val="000000"/>
            </a:solidFill>
            <a:miter lim="800000"/>
            <a:headEnd/>
            <a:tailEnd/>
          </a:ln>
        </p:spPr>
      </p:sp>
      <p:sp>
        <p:nvSpPr>
          <p:cNvPr id="3082" name="Rectangle 10"/>
          <p:cNvSpPr txBox="1">
            <a:spLocks noGrp="1" noChangeArrowheads="1"/>
          </p:cNvSpPr>
          <p:nvPr>
            <p:ph type="body" idx="1"/>
          </p:nvPr>
        </p:nvSpPr>
        <p:spPr bwMode="auto">
          <a:xfrm>
            <a:off x="685800" y="4343400"/>
            <a:ext cx="5486400" cy="41148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endParaRPr lang="en-US" noProof="0" smtClean="0"/>
          </a:p>
        </p:txBody>
      </p:sp>
    </p:spTree>
    <p:extLst>
      <p:ext uri="{BB962C8B-B14F-4D97-AF65-F5344CB8AC3E}">
        <p14:creationId xmlns:p14="http://schemas.microsoft.com/office/powerpoint/2010/main" val="2200024406"/>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1"/>
          <p:cNvSpPr>
            <a:spLocks noGrp="1" noRot="1" noChangeAspect="1" noChangeArrowheads="1" noTextEdit="1"/>
          </p:cNvSpPr>
          <p:nvPr>
            <p:ph type="sldImg"/>
          </p:nvPr>
        </p:nvSpPr>
        <p:spPr>
          <a:ln/>
        </p:spPr>
      </p:sp>
      <p:sp>
        <p:nvSpPr>
          <p:cNvPr id="52227" name="Rectangle 2"/>
          <p:cNvSpPr txBox="1">
            <a:spLocks noGrp="1" noChangeArrowheads="1"/>
          </p:cNvSpPr>
          <p:nvPr>
            <p:ph type="body" idx="1"/>
          </p:nvPr>
        </p:nvSpPr>
        <p:spPr>
          <a:noFill/>
          <a:ln/>
        </p:spPr>
        <p:txBody>
          <a:bodyPr wrap="none" anchor="ctr"/>
          <a:lstStyle/>
          <a:p>
            <a:endParaRPr lang="en-US" smtClean="0"/>
          </a:p>
        </p:txBody>
      </p:sp>
    </p:spTree>
    <p:extLst>
      <p:ext uri="{BB962C8B-B14F-4D97-AF65-F5344CB8AC3E}">
        <p14:creationId xmlns:p14="http://schemas.microsoft.com/office/powerpoint/2010/main" val="2644168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1"/>
          <p:cNvSpPr>
            <a:spLocks noGrp="1" noRot="1" noChangeAspect="1" noChangeArrowheads="1" noTextEdit="1"/>
          </p:cNvSpPr>
          <p:nvPr>
            <p:ph type="sldImg"/>
          </p:nvPr>
        </p:nvSpPr>
        <p:spPr>
          <a:ln/>
        </p:spPr>
      </p:sp>
      <p:sp>
        <p:nvSpPr>
          <p:cNvPr id="52227" name="Rectangle 2"/>
          <p:cNvSpPr txBox="1">
            <a:spLocks noGrp="1" noChangeArrowheads="1"/>
          </p:cNvSpPr>
          <p:nvPr>
            <p:ph type="body" idx="1"/>
          </p:nvPr>
        </p:nvSpPr>
        <p:spPr>
          <a:noFill/>
          <a:ln/>
        </p:spPr>
        <p:txBody>
          <a:bodyPr wrap="none" anchor="ctr"/>
          <a:lstStyle/>
          <a:p>
            <a:endParaRPr lang="en-US" smtClean="0"/>
          </a:p>
        </p:txBody>
      </p:sp>
    </p:spTree>
    <p:extLst>
      <p:ext uri="{BB962C8B-B14F-4D97-AF65-F5344CB8AC3E}">
        <p14:creationId xmlns:p14="http://schemas.microsoft.com/office/powerpoint/2010/main" val="2092859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txBox="1">
            <a:spLocks noGrp="1"/>
          </p:cNvSpPr>
          <p:nvPr>
            <p:ph type="body" idx="1"/>
          </p:nvPr>
        </p:nvSpPr>
        <p:spPr>
          <a:noFill/>
          <a:ln/>
        </p:spPr>
        <p:txBody>
          <a:bodyPr/>
          <a:lstStyle/>
          <a:p>
            <a:endParaRPr lang="en-US" smtClean="0"/>
          </a:p>
        </p:txBody>
      </p:sp>
    </p:spTree>
    <p:extLst>
      <p:ext uri="{BB962C8B-B14F-4D97-AF65-F5344CB8AC3E}">
        <p14:creationId xmlns:p14="http://schemas.microsoft.com/office/powerpoint/2010/main" val="2522144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txBox="1">
            <a:spLocks noGrp="1"/>
          </p:cNvSpPr>
          <p:nvPr>
            <p:ph type="body" idx="1"/>
          </p:nvPr>
        </p:nvSpPr>
        <p:spPr>
          <a:noFill/>
          <a:ln/>
        </p:spPr>
        <p:txBody>
          <a:bodyPr/>
          <a:lstStyle/>
          <a:p>
            <a:endParaRPr lang="en-US" smtClean="0"/>
          </a:p>
        </p:txBody>
      </p:sp>
    </p:spTree>
    <p:extLst>
      <p:ext uri="{BB962C8B-B14F-4D97-AF65-F5344CB8AC3E}">
        <p14:creationId xmlns:p14="http://schemas.microsoft.com/office/powerpoint/2010/main" val="15322264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1"/>
          <p:cNvSpPr>
            <a:spLocks noGrp="1" noRot="1" noChangeAspect="1" noChangeArrowheads="1" noTextEdit="1"/>
          </p:cNvSpPr>
          <p:nvPr>
            <p:ph type="sldImg"/>
          </p:nvPr>
        </p:nvSpPr>
        <p:spPr>
          <a:ln/>
        </p:spPr>
      </p:sp>
      <p:sp>
        <p:nvSpPr>
          <p:cNvPr id="55299" name="Rectangle 2"/>
          <p:cNvSpPr txBox="1">
            <a:spLocks noGrp="1" noChangeArrowheads="1"/>
          </p:cNvSpPr>
          <p:nvPr>
            <p:ph type="body" idx="1"/>
          </p:nvPr>
        </p:nvSpPr>
        <p:spPr>
          <a:noFill/>
          <a:ln/>
        </p:spPr>
        <p:txBody>
          <a:bodyPr wrap="none" anchor="ctr"/>
          <a:lstStyle/>
          <a:p>
            <a:endParaRPr lang="en-US" smtClean="0"/>
          </a:p>
        </p:txBody>
      </p:sp>
    </p:spTree>
    <p:extLst>
      <p:ext uri="{BB962C8B-B14F-4D97-AF65-F5344CB8AC3E}">
        <p14:creationId xmlns:p14="http://schemas.microsoft.com/office/powerpoint/2010/main" val="33836410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57347" name="Rectangle 3"/>
          <p:cNvSpPr>
            <a:spLocks noGrp="1" noChangeArrowheads="1"/>
          </p:cNvSpPr>
          <p:nvPr>
            <p:ph type="body" idx="1"/>
          </p:nvPr>
        </p:nvSpPr>
        <p:spPr bwMode="auto">
          <a:xfrm>
            <a:off x="685800" y="4343361"/>
            <a:ext cx="5486400" cy="4115511"/>
          </a:xfrm>
          <a:prstGeom prst="rect">
            <a:avLst/>
          </a:prstGeom>
          <a:noFill/>
          <a:ln>
            <a:miter lim="800000"/>
            <a:headEnd/>
            <a:tailEnd/>
          </a:ln>
        </p:spPr>
        <p:txBody>
          <a:bodyPr/>
          <a:lstStyle/>
          <a:p>
            <a:endParaRPr lang="en-US" smtClean="0"/>
          </a:p>
        </p:txBody>
      </p:sp>
    </p:spTree>
    <p:extLst>
      <p:ext uri="{BB962C8B-B14F-4D97-AF65-F5344CB8AC3E}">
        <p14:creationId xmlns:p14="http://schemas.microsoft.com/office/powerpoint/2010/main" val="28340774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noFill/>
          <a:ln/>
        </p:spPr>
      </p:sp>
      <p:sp>
        <p:nvSpPr>
          <p:cNvPr id="59395" name="Rectangle 3"/>
          <p:cNvSpPr txBox="1">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3946435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noFill/>
          <a:ln/>
        </p:spPr>
      </p:sp>
      <p:sp>
        <p:nvSpPr>
          <p:cNvPr id="60419" name="Rectangle 3"/>
          <p:cNvSpPr txBox="1">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453996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noFill/>
          <a:ln/>
        </p:spPr>
      </p:sp>
      <p:sp>
        <p:nvSpPr>
          <p:cNvPr id="56323" name="Rectangle 3"/>
          <p:cNvSpPr txBox="1">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577922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noFill/>
          <a:ln/>
        </p:spPr>
      </p:sp>
      <p:sp>
        <p:nvSpPr>
          <p:cNvPr id="57347" name="Rectangle 3"/>
          <p:cNvSpPr txBox="1">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6939676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noFill/>
          <a:ln/>
        </p:spPr>
      </p:sp>
      <p:sp>
        <p:nvSpPr>
          <p:cNvPr id="63491" name="Rectangle 3"/>
          <p:cNvSpPr txBox="1">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1436848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a:noFill/>
          <a:ln/>
        </p:spPr>
      </p:sp>
      <p:sp>
        <p:nvSpPr>
          <p:cNvPr id="65539" name="Rectangle 3"/>
          <p:cNvSpPr txBox="1">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8917570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noFill/>
          <a:ln/>
        </p:spPr>
      </p:sp>
      <p:sp>
        <p:nvSpPr>
          <p:cNvPr id="64515" name="Rectangle 3"/>
          <p:cNvSpPr txBox="1">
            <a:spLocks noGrp="1" noChangeArrowheads="1"/>
          </p:cNvSpPr>
          <p:nvPr>
            <p:ph type="body" idx="1"/>
          </p:nvPr>
        </p:nvSpPr>
        <p:spPr>
          <a:noFill/>
          <a:ln/>
        </p:spPr>
        <p:txBody>
          <a:bodyPr/>
          <a:lstStyle/>
          <a:p>
            <a:r>
              <a:rPr lang="en-US" dirty="0" smtClean="0"/>
              <a:t>Statement: Misses logic errors in conditional branches.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Branch: Doesn’t test all </a:t>
            </a:r>
            <a:r>
              <a:rPr lang="en-US" b="1" dirty="0" smtClean="0"/>
              <a:t>combinations</a:t>
            </a:r>
            <a:r>
              <a:rPr lang="en-US" dirty="0" smtClean="0"/>
              <a:t> of branches (e.g., nested conditions).</a:t>
            </a:r>
          </a:p>
          <a:p>
            <a:r>
              <a:rPr lang="en-US" dirty="0" smtClean="0"/>
              <a:t>Path: Ensure </a:t>
            </a:r>
            <a:r>
              <a:rPr lang="en-US" b="1" dirty="0" smtClean="0"/>
              <a:t>all possible execution paths</a:t>
            </a:r>
            <a:r>
              <a:rPr lang="en-US" dirty="0" smtClean="0"/>
              <a:t> through the code are tested. For nested if and loops, it checks </a:t>
            </a:r>
            <a:r>
              <a:rPr lang="en-US" b="1" dirty="0" smtClean="0"/>
              <a:t>every possible way</a:t>
            </a:r>
            <a:r>
              <a:rPr lang="en-US" dirty="0" smtClean="0"/>
              <a:t> to reach the end. Number of paths can grow exponentially with loops, branches and nested conditions</a:t>
            </a:r>
            <a:br>
              <a:rPr lang="en-US" dirty="0" smtClean="0"/>
            </a:br>
            <a:r>
              <a:rPr lang="en-US" dirty="0" smtClean="0"/>
              <a:t>Basis Path: Ensures full branch and edge coverage. Uses </a:t>
            </a:r>
            <a:r>
              <a:rPr lang="en-US" dirty="0" err="1" smtClean="0"/>
              <a:t>cyclomatic</a:t>
            </a:r>
            <a:r>
              <a:rPr lang="en-US" dirty="0" smtClean="0"/>
              <a:t> complexity to determine number of independent paths. Avoids path explosion.</a:t>
            </a:r>
          </a:p>
          <a:p>
            <a:endParaRPr lang="en-US" dirty="0" smtClean="0"/>
          </a:p>
          <a:p>
            <a:endParaRPr lang="en-US" dirty="0" smtClean="0"/>
          </a:p>
        </p:txBody>
      </p:sp>
    </p:spTree>
    <p:extLst>
      <p:ext uri="{BB962C8B-B14F-4D97-AF65-F5344CB8AC3E}">
        <p14:creationId xmlns:p14="http://schemas.microsoft.com/office/powerpoint/2010/main" val="30790982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noFill/>
          <a:ln/>
        </p:spPr>
      </p:sp>
      <p:sp>
        <p:nvSpPr>
          <p:cNvPr id="70659" name="Rectangle 3"/>
          <p:cNvSpPr txBox="1">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6062851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noFill/>
          <a:ln/>
        </p:spPr>
      </p:sp>
      <p:sp>
        <p:nvSpPr>
          <p:cNvPr id="71683" name="Rectangle 3"/>
          <p:cNvSpPr txBox="1">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4498986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noFill/>
          <a:ln/>
        </p:spPr>
      </p:sp>
      <p:sp>
        <p:nvSpPr>
          <p:cNvPr id="72707" name="Rectangle 3"/>
          <p:cNvSpPr txBox="1">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9772808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noFill/>
          <a:ln/>
        </p:spPr>
      </p:sp>
      <p:sp>
        <p:nvSpPr>
          <p:cNvPr id="73731" name="Rectangle 3"/>
          <p:cNvSpPr txBox="1">
            <a:spLocks noGrp="1" noChangeArrowheads="1"/>
          </p:cNvSpPr>
          <p:nvPr>
            <p:ph type="body" idx="1"/>
          </p:nvPr>
        </p:nvSpPr>
        <p:spPr>
          <a:noFill/>
          <a:ln/>
        </p:spPr>
        <p:txBody>
          <a:bodyPr/>
          <a:lstStyle/>
          <a:p>
            <a:r>
              <a:rPr lang="en-US" sz="1200" b="0" i="0" kern="1200" dirty="0" smtClean="0">
                <a:solidFill>
                  <a:srgbClr val="000000"/>
                </a:solidFill>
                <a:effectLst/>
                <a:latin typeface="Times New Roman" pitchFamily="18" charset="0"/>
                <a:ea typeface="+mn-ea"/>
                <a:cs typeface="+mn-cs"/>
              </a:rPr>
              <a:t>all or most of the modules or components of a software system are integrated simultaneously, and the system is tested as a whole</a:t>
            </a:r>
            <a:endParaRPr lang="en-US" dirty="0" smtClean="0"/>
          </a:p>
        </p:txBody>
      </p:sp>
    </p:spTree>
    <p:extLst>
      <p:ext uri="{BB962C8B-B14F-4D97-AF65-F5344CB8AC3E}">
        <p14:creationId xmlns:p14="http://schemas.microsoft.com/office/powerpoint/2010/main" val="23080395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noFill/>
          <a:ln/>
        </p:spPr>
      </p:sp>
      <p:sp>
        <p:nvSpPr>
          <p:cNvPr id="74755" name="Rectangle 3"/>
          <p:cNvSpPr txBox="1">
            <a:spLocks noGrp="1" noChangeArrowheads="1"/>
          </p:cNvSpPr>
          <p:nvPr>
            <p:ph type="body" idx="1"/>
          </p:nvPr>
        </p:nvSpPr>
        <p:spPr>
          <a:noFill/>
          <a:ln/>
        </p:spPr>
        <p:txBody>
          <a:bodyPr/>
          <a:lstStyle/>
          <a:p>
            <a:r>
              <a:rPr lang="en-US" sz="1200" b="0" i="0" kern="1200" dirty="0" smtClean="0">
                <a:solidFill>
                  <a:srgbClr val="000000"/>
                </a:solidFill>
                <a:effectLst/>
                <a:latin typeface="Times New Roman" pitchFamily="18" charset="0"/>
                <a:ea typeface="+mn-ea"/>
                <a:cs typeface="+mn-cs"/>
              </a:rPr>
              <a:t>In integration testing, drivers and stubs are used to facilitate the testing of modules or components that depend on other modules/components which are not yet available or fully functional. They help simulate the behavior of these dependent modules/components, allowing testing to proceed smoothly.</a:t>
            </a:r>
            <a:endParaRPr lang="en-US" dirty="0" smtClean="0"/>
          </a:p>
        </p:txBody>
      </p:sp>
    </p:spTree>
    <p:extLst>
      <p:ext uri="{BB962C8B-B14F-4D97-AF65-F5344CB8AC3E}">
        <p14:creationId xmlns:p14="http://schemas.microsoft.com/office/powerpoint/2010/main" val="24942738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noFill/>
          <a:ln/>
        </p:spPr>
      </p:sp>
      <p:sp>
        <p:nvSpPr>
          <p:cNvPr id="74755" name="Rectangle 3"/>
          <p:cNvSpPr txBox="1">
            <a:spLocks noGrp="1" noChangeArrowheads="1"/>
          </p:cNvSpPr>
          <p:nvPr>
            <p:ph type="body" idx="1"/>
          </p:nvPr>
        </p:nvSpPr>
        <p:spPr>
          <a:noFill/>
          <a:ln/>
        </p:spPr>
        <p:txBody>
          <a:bodyPr/>
          <a:lstStyle/>
          <a:p>
            <a:r>
              <a:rPr lang="en-US" sz="1200" b="0" i="0" kern="1200" dirty="0" smtClean="0">
                <a:solidFill>
                  <a:srgbClr val="000000"/>
                </a:solidFill>
                <a:effectLst/>
                <a:latin typeface="Times New Roman" pitchFamily="18" charset="0"/>
                <a:ea typeface="+mn-ea"/>
                <a:cs typeface="+mn-cs"/>
              </a:rPr>
              <a:t>This helps in identifying and addressing major architectural issues early on.</a:t>
            </a:r>
            <a:endParaRPr lang="en-US" dirty="0" smtClean="0"/>
          </a:p>
        </p:txBody>
      </p:sp>
    </p:spTree>
    <p:extLst>
      <p:ext uri="{BB962C8B-B14F-4D97-AF65-F5344CB8AC3E}">
        <p14:creationId xmlns:p14="http://schemas.microsoft.com/office/powerpoint/2010/main" val="12925900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noFill/>
          <a:ln/>
        </p:spPr>
      </p:sp>
      <p:sp>
        <p:nvSpPr>
          <p:cNvPr id="75779" name="Rectangle 3"/>
          <p:cNvSpPr txBox="1">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226114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noFill/>
          <a:ln/>
        </p:spPr>
      </p:sp>
      <p:sp>
        <p:nvSpPr>
          <p:cNvPr id="75779" name="Rectangle 3"/>
          <p:cNvSpPr txBox="1">
            <a:spLocks noGrp="1" noChangeArrowheads="1"/>
          </p:cNvSpPr>
          <p:nvPr>
            <p:ph type="body" idx="1"/>
          </p:nvPr>
        </p:nvSpPr>
        <p:spPr>
          <a:noFill/>
          <a:ln/>
        </p:spPr>
        <p:txBody>
          <a:bodyPr/>
          <a:lstStyle/>
          <a:p>
            <a:r>
              <a:rPr lang="en-US" sz="1200" b="0" i="0" kern="1200" dirty="0" smtClean="0">
                <a:solidFill>
                  <a:srgbClr val="000000"/>
                </a:solidFill>
                <a:effectLst/>
                <a:latin typeface="Times New Roman" pitchFamily="18" charset="0"/>
                <a:ea typeface="+mn-ea"/>
                <a:cs typeface="+mn-cs"/>
              </a:rPr>
              <a:t>This approach helps in identifying and resolving issues related to individual components or modules.</a:t>
            </a:r>
            <a:endParaRPr lang="en-US" dirty="0" smtClean="0"/>
          </a:p>
        </p:txBody>
      </p:sp>
    </p:spTree>
    <p:extLst>
      <p:ext uri="{BB962C8B-B14F-4D97-AF65-F5344CB8AC3E}">
        <p14:creationId xmlns:p14="http://schemas.microsoft.com/office/powerpoint/2010/main" val="31457284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noFill/>
          <a:ln/>
        </p:spPr>
      </p:sp>
      <p:sp>
        <p:nvSpPr>
          <p:cNvPr id="76803" name="Rectangle 3"/>
          <p:cNvSpPr txBox="1">
            <a:spLocks noGrp="1" noChangeArrowheads="1"/>
          </p:cNvSpPr>
          <p:nvPr>
            <p:ph type="body" idx="1"/>
          </p:nvPr>
        </p:nvSpPr>
        <p:spPr>
          <a:noFill/>
          <a:ln/>
        </p:spPr>
        <p:txBody>
          <a:bodyPr/>
          <a:lstStyle/>
          <a:p>
            <a:r>
              <a:rPr lang="en-US" sz="1200" b="1" i="0" kern="1200" dirty="0" smtClean="0">
                <a:solidFill>
                  <a:srgbClr val="000000"/>
                </a:solidFill>
                <a:effectLst/>
                <a:latin typeface="Times New Roman" pitchFamily="18" charset="0"/>
                <a:ea typeface="+mn-ea"/>
                <a:cs typeface="+mn-cs"/>
              </a:rPr>
              <a:t>Incremental integration</a:t>
            </a:r>
            <a:r>
              <a:rPr lang="en-US" sz="1200" b="0" i="0" kern="1200" dirty="0" smtClean="0">
                <a:solidFill>
                  <a:srgbClr val="000000"/>
                </a:solidFill>
                <a:effectLst/>
                <a:latin typeface="Times New Roman" pitchFamily="18" charset="0"/>
                <a:ea typeface="+mn-ea"/>
                <a:cs typeface="+mn-cs"/>
              </a:rPr>
              <a:t>: In sandwich integration testing, both top-down and bottom-up integration occur simultaneously, with integration proceeding incrementally from both ends towards the middle. This allows for a more balanced approach, leveraging the strengths of both top-down and bottom-up integration while mitigating their respective weaknesses.</a:t>
            </a:r>
            <a:endParaRPr lang="en-US" sz="1200" b="0" i="0" kern="1200" dirty="0">
              <a:solidFill>
                <a:srgbClr val="000000"/>
              </a:solidFill>
              <a:effectLst/>
              <a:latin typeface="Times New Roman" pitchFamily="18" charset="0"/>
              <a:ea typeface="+mn-ea"/>
              <a:cs typeface="+mn-cs"/>
            </a:endParaRPr>
          </a:p>
        </p:txBody>
      </p:sp>
    </p:spTree>
    <p:extLst>
      <p:ext uri="{BB962C8B-B14F-4D97-AF65-F5344CB8AC3E}">
        <p14:creationId xmlns:p14="http://schemas.microsoft.com/office/powerpoint/2010/main" val="36447712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49155" name="Rectangle 3"/>
          <p:cNvSpPr>
            <a:spLocks noGrp="1" noChangeArrowheads="1"/>
          </p:cNvSpPr>
          <p:nvPr>
            <p:ph type="body" idx="1"/>
          </p:nvPr>
        </p:nvSpPr>
        <p:spPr bwMode="auto">
          <a:xfrm>
            <a:off x="685800" y="4343361"/>
            <a:ext cx="5486400" cy="4115511"/>
          </a:xfrm>
          <a:prstGeom prst="rect">
            <a:avLst/>
          </a:prstGeom>
          <a:noFill/>
          <a:ln>
            <a:miter lim="800000"/>
            <a:headEnd/>
            <a:tailEnd/>
          </a:ln>
        </p:spPr>
        <p:txBody>
          <a:bodyPr/>
          <a:lstStyle/>
          <a:p>
            <a:endParaRPr lang="en-US" smtClean="0"/>
          </a:p>
        </p:txBody>
      </p:sp>
    </p:spTree>
    <p:extLst>
      <p:ext uri="{BB962C8B-B14F-4D97-AF65-F5344CB8AC3E}">
        <p14:creationId xmlns:p14="http://schemas.microsoft.com/office/powerpoint/2010/main" val="21183604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50179" name="Rectangle 3"/>
          <p:cNvSpPr>
            <a:spLocks noGrp="1" noChangeArrowheads="1"/>
          </p:cNvSpPr>
          <p:nvPr>
            <p:ph type="body" idx="1"/>
          </p:nvPr>
        </p:nvSpPr>
        <p:spPr bwMode="auto">
          <a:xfrm>
            <a:off x="685800" y="4343361"/>
            <a:ext cx="5486400" cy="4115511"/>
          </a:xfrm>
          <a:prstGeom prst="rect">
            <a:avLst/>
          </a:prstGeom>
          <a:noFill/>
          <a:ln>
            <a:miter lim="800000"/>
            <a:headEnd/>
            <a:tailEnd/>
          </a:ln>
        </p:spPr>
        <p:txBody>
          <a:bodyPr/>
          <a:lstStyle/>
          <a:p>
            <a:endParaRPr lang="en-US" smtClean="0"/>
          </a:p>
        </p:txBody>
      </p:sp>
    </p:spTree>
    <p:extLst>
      <p:ext uri="{BB962C8B-B14F-4D97-AF65-F5344CB8AC3E}">
        <p14:creationId xmlns:p14="http://schemas.microsoft.com/office/powerpoint/2010/main" val="16027279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62467" name="Rectangle 3"/>
          <p:cNvSpPr>
            <a:spLocks noGrp="1" noChangeArrowheads="1"/>
          </p:cNvSpPr>
          <p:nvPr>
            <p:ph type="body" idx="1"/>
          </p:nvPr>
        </p:nvSpPr>
        <p:spPr bwMode="auto">
          <a:xfrm>
            <a:off x="685800" y="4343361"/>
            <a:ext cx="5486400" cy="4115511"/>
          </a:xfrm>
          <a:prstGeom prst="rect">
            <a:avLst/>
          </a:prstGeom>
          <a:noFill/>
          <a:ln>
            <a:miter lim="800000"/>
            <a:headEnd/>
            <a:tailEnd/>
          </a:ln>
        </p:spPr>
        <p:txBody>
          <a:bodyPr/>
          <a:lstStyle/>
          <a:p>
            <a:endParaRPr lang="en-US" smtClean="0"/>
          </a:p>
        </p:txBody>
      </p:sp>
    </p:spTree>
    <p:extLst>
      <p:ext uri="{BB962C8B-B14F-4D97-AF65-F5344CB8AC3E}">
        <p14:creationId xmlns:p14="http://schemas.microsoft.com/office/powerpoint/2010/main" val="9758504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63491" name="Rectangle 3"/>
          <p:cNvSpPr>
            <a:spLocks noGrp="1" noChangeArrowheads="1"/>
          </p:cNvSpPr>
          <p:nvPr>
            <p:ph type="body" idx="1"/>
          </p:nvPr>
        </p:nvSpPr>
        <p:spPr bwMode="auto">
          <a:xfrm>
            <a:off x="685800" y="4343361"/>
            <a:ext cx="5486400" cy="4115511"/>
          </a:xfrm>
          <a:prstGeom prst="rect">
            <a:avLst/>
          </a:prstGeom>
          <a:noFill/>
          <a:ln>
            <a:miter lim="800000"/>
            <a:headEnd/>
            <a:tailEnd/>
          </a:ln>
        </p:spPr>
        <p:txBody>
          <a:bodyPr/>
          <a:lstStyle/>
          <a:p>
            <a:pPr marL="0" marR="0" indent="0" algn="l" defTabSz="457200" rtl="0" eaLnBrk="0" fontAlgn="base" latinLnBrk="0" hangingPunct="0">
              <a:lnSpc>
                <a:spcPct val="100000"/>
              </a:lnSpc>
              <a:spcBef>
                <a:spcPct val="30000"/>
              </a:spcBef>
              <a:spcAft>
                <a:spcPct val="0"/>
              </a:spcAft>
              <a:buClr>
                <a:srgbClr val="000000"/>
              </a:buClr>
              <a:buSzPct val="100000"/>
              <a:buFont typeface="Times New Roman" pitchFamily="18" charset="0"/>
              <a:buNone/>
              <a:tabLst/>
              <a:defRPr/>
            </a:pPr>
            <a:r>
              <a:rPr lang="en-US" sz="1200" b="0" i="0" kern="1200" dirty="0" smtClean="0">
                <a:solidFill>
                  <a:srgbClr val="000000"/>
                </a:solidFill>
                <a:effectLst/>
                <a:latin typeface="Times New Roman" pitchFamily="18" charset="0"/>
                <a:ea typeface="+mn-ea"/>
                <a:cs typeface="+mn-cs"/>
              </a:rPr>
              <a:t>Purpose: Beta testing occurs later in the development process, closer to the official release of the software.</a:t>
            </a:r>
          </a:p>
          <a:p>
            <a:r>
              <a:rPr lang="en-US" sz="1200" b="0" i="0" kern="1200" dirty="0" smtClean="0">
                <a:solidFill>
                  <a:srgbClr val="000000"/>
                </a:solidFill>
                <a:effectLst/>
                <a:latin typeface="Times New Roman" pitchFamily="18" charset="0"/>
                <a:ea typeface="+mn-ea"/>
                <a:cs typeface="+mn-cs"/>
              </a:rPr>
              <a:t>Pilot testing is conducted earlier in the development process, typically after the completion of internal testing but before widespread deployment</a:t>
            </a:r>
            <a:endParaRPr lang="en-US" dirty="0" smtClean="0"/>
          </a:p>
        </p:txBody>
      </p:sp>
    </p:spTree>
    <p:extLst>
      <p:ext uri="{BB962C8B-B14F-4D97-AF65-F5344CB8AC3E}">
        <p14:creationId xmlns:p14="http://schemas.microsoft.com/office/powerpoint/2010/main" val="27031689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64515" name="Rectangle 3"/>
          <p:cNvSpPr>
            <a:spLocks noGrp="1" noChangeArrowheads="1"/>
          </p:cNvSpPr>
          <p:nvPr>
            <p:ph type="body" idx="1"/>
          </p:nvPr>
        </p:nvSpPr>
        <p:spPr bwMode="auto">
          <a:xfrm>
            <a:off x="685800" y="4343361"/>
            <a:ext cx="5486400" cy="4115511"/>
          </a:xfrm>
          <a:prstGeom prst="rect">
            <a:avLst/>
          </a:prstGeom>
          <a:noFill/>
          <a:ln>
            <a:miter lim="800000"/>
            <a:headEnd/>
            <a:tailEnd/>
          </a:ln>
        </p:spPr>
        <p:txBody>
          <a:bodyPr/>
          <a:lstStyle/>
          <a:p>
            <a:endParaRPr lang="en-US" smtClean="0"/>
          </a:p>
        </p:txBody>
      </p:sp>
    </p:spTree>
    <p:extLst>
      <p:ext uri="{BB962C8B-B14F-4D97-AF65-F5344CB8AC3E}">
        <p14:creationId xmlns:p14="http://schemas.microsoft.com/office/powerpoint/2010/main" val="40803415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65539" name="Rectangle 3"/>
          <p:cNvSpPr>
            <a:spLocks noGrp="1" noChangeArrowheads="1"/>
          </p:cNvSpPr>
          <p:nvPr>
            <p:ph type="body" idx="1"/>
          </p:nvPr>
        </p:nvSpPr>
        <p:spPr bwMode="auto">
          <a:xfrm>
            <a:off x="685800" y="4343361"/>
            <a:ext cx="5486400" cy="4115511"/>
          </a:xfrm>
          <a:prstGeom prst="rect">
            <a:avLst/>
          </a:prstGeom>
          <a:noFill/>
          <a:ln>
            <a:miter lim="800000"/>
            <a:headEnd/>
            <a:tailEnd/>
          </a:ln>
        </p:spPr>
        <p:txBody>
          <a:bodyPr/>
          <a:lstStyle/>
          <a:p>
            <a:endParaRPr lang="en-US" smtClean="0"/>
          </a:p>
        </p:txBody>
      </p:sp>
    </p:spTree>
    <p:extLst>
      <p:ext uri="{BB962C8B-B14F-4D97-AF65-F5344CB8AC3E}">
        <p14:creationId xmlns:p14="http://schemas.microsoft.com/office/powerpoint/2010/main" val="3190297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noFill/>
          <a:ln/>
        </p:spPr>
      </p:sp>
      <p:sp>
        <p:nvSpPr>
          <p:cNvPr id="83971" name="Rectangle 3"/>
          <p:cNvSpPr txBox="1">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441162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544213AF-26F6-41FA-8D85-E2C5388D6E58}" type="datetimeFigureOut">
              <a:rPr lang="en-US" smtClean="0"/>
              <a:pPr/>
              <a:t>4/16/2026</a:t>
            </a:fld>
            <a:endParaRPr lang="en-US" dirty="0">
              <a:solidFill>
                <a:srgbClr val="FFFFFF"/>
              </a:solidFill>
            </a:endParaRPr>
          </a:p>
        </p:txBody>
      </p:sp>
      <p:sp>
        <p:nvSpPr>
          <p:cNvPr id="19" name="Footer Placeholder 18"/>
          <p:cNvSpPr>
            <a:spLocks noGrp="1"/>
          </p:cNvSpPr>
          <p:nvPr>
            <p:ph type="ftr" sz="quarter" idx="11"/>
          </p:nvPr>
        </p:nvSpPr>
        <p:spPr/>
        <p:txBody>
          <a:bodyPr/>
          <a:lstStyle/>
          <a:p>
            <a:endParaRPr kumimoji="0" lang="en-US">
              <a:solidFill>
                <a:schemeClr val="accent1">
                  <a:tint val="20000"/>
                </a:schemeClr>
              </a:solidFill>
            </a:endParaRPr>
          </a:p>
        </p:txBody>
      </p:sp>
      <p:sp>
        <p:nvSpPr>
          <p:cNvPr id="27" name="Slide Number Placeholder 26"/>
          <p:cNvSpPr>
            <a:spLocks noGrp="1"/>
          </p:cNvSpPr>
          <p:nvPr>
            <p:ph type="sldNum" sz="quarter" idx="12"/>
          </p:nvPr>
        </p:nvSpPr>
        <p:spPr/>
        <p:txBody>
          <a:bodyPr/>
          <a:lstStyle/>
          <a:p>
            <a:fld id="{D5BBC35B-A44B-4119-B8DA-DE9E3DFADA20}" type="slidenum">
              <a:rPr kumimoji="0" lang="en-US" smtClean="0"/>
              <a:pPr/>
              <a:t>‹#›</a:t>
            </a:fld>
            <a:endParaRPr kumimoji="0" lang="en-US" dirty="0">
              <a:solidFill>
                <a:srgbClr val="FFFFFF"/>
              </a:solidFil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44213AF-26F6-41FA-8D85-E2C5388D6E58}"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D5BBC35B-A44B-4119-B8DA-DE9E3DFADA20}" type="slidenum">
              <a:rPr kumimoji="0" lang="en-US" smtClean="0"/>
              <a:pPr/>
              <a:t>‹#›</a:t>
            </a:fld>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44213AF-26F6-41FA-8D85-E2C5388D6E58}"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D5BBC35B-A44B-4119-B8DA-DE9E3DFADA20}"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44213AF-26F6-41FA-8D85-E2C5388D6E58}"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D5BBC35B-A44B-4119-B8DA-DE9E3DFADA20}" type="slidenum">
              <a:rPr kumimoji="0" lang="en-US" smtClean="0"/>
              <a:pPr/>
              <a:t>‹#›</a:t>
            </a:fld>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44213AF-26F6-41FA-8D85-E2C5388D6E58}" type="datetimeFigureOut">
              <a:rPr lang="en-US" smtClean="0"/>
              <a:pPr/>
              <a:t>4/16/2026</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D5BBC35B-A44B-4119-B8DA-DE9E3DFADA20}" type="slidenum">
              <a:rPr kumimoji="0" lang="en-US" smtClean="0"/>
              <a:pPr/>
              <a:t>‹#›</a:t>
            </a:fld>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44213AF-26F6-41FA-8D85-E2C5388D6E58}" type="datetimeFigureOut">
              <a:rPr lang="en-US" smtClean="0"/>
              <a:pPr/>
              <a:t>4/16/2026</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D5BBC35B-A44B-4119-B8DA-DE9E3DFADA20}" type="slidenum">
              <a:rPr kumimoji="0" lang="en-US" smtClean="0"/>
              <a:pPr/>
              <a:t>‹#›</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4213AF-26F6-41FA-8D85-E2C5388D6E58}" type="datetimeFigureOut">
              <a:rPr lang="en-US" smtClean="0"/>
              <a:pPr/>
              <a:t>4/16/2026</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D5BBC35B-A44B-4119-B8DA-DE9E3DFADA20}" type="slidenum">
              <a:rPr kumimoji="0" lang="en-US" smtClean="0"/>
              <a:pPr/>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44213AF-26F6-41FA-8D85-E2C5388D6E58}"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D5BBC35B-A44B-4119-B8DA-DE9E3DFADA20}" type="slidenum">
              <a:rPr kumimoji="0" lang="en-US" smtClean="0"/>
              <a:pPr/>
              <a:t>‹#›</a:t>
            </a:fld>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44213AF-26F6-41FA-8D85-E2C5388D6E58}" type="datetimeFigureOut">
              <a:rPr lang="en-US" smtClean="0"/>
              <a:pPr/>
              <a:t>4/16/2026</a:t>
            </a:fld>
            <a:endParaRPr lang="en-US">
              <a:solidFill>
                <a:schemeClr val="tx1"/>
              </a:solidFill>
            </a:endParaRPr>
          </a:p>
        </p:txBody>
      </p:sp>
      <p:sp>
        <p:nvSpPr>
          <p:cNvPr id="6" name="Footer Placeholder 5"/>
          <p:cNvSpPr>
            <a:spLocks noGrp="1"/>
          </p:cNvSpPr>
          <p:nvPr>
            <p:ph type="ftr" sz="quarter" idx="11"/>
          </p:nvPr>
        </p:nvSpPr>
        <p:spPr/>
        <p:txBody>
          <a:bodyPr/>
          <a:lstStyle/>
          <a:p>
            <a:endParaRPr kumimoji="0" lang="en-US">
              <a:solidFill>
                <a:schemeClr val="tx1"/>
              </a:solidFill>
            </a:endParaRPr>
          </a:p>
        </p:txBody>
      </p:sp>
      <p:sp>
        <p:nvSpPr>
          <p:cNvPr id="7" name="Slide Number Placeholder 6"/>
          <p:cNvSpPr>
            <a:spLocks noGrp="1"/>
          </p:cNvSpPr>
          <p:nvPr>
            <p:ph type="sldNum" sz="quarter" idx="12"/>
          </p:nvPr>
        </p:nvSpPr>
        <p:spPr>
          <a:xfrm>
            <a:off x="8077200" y="6356350"/>
            <a:ext cx="609600" cy="365125"/>
          </a:xfrm>
        </p:spPr>
        <p:txBody>
          <a:bodyPr/>
          <a:lstStyle/>
          <a:p>
            <a:fld id="{D5BBC35B-A44B-4119-B8DA-DE9E3DFADA20}" type="slidenum">
              <a:rPr kumimoji="0" lang="en-US" smtClean="0"/>
              <a:pPr/>
              <a:t>‹#›</a:t>
            </a:fld>
            <a:endParaRPr kumimoji="0" lang="en-US">
              <a:solidFill>
                <a:schemeClr val="tx1"/>
              </a:solidFill>
            </a:endParaRP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44213AF-26F6-41FA-8D85-E2C5388D6E58}"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D5BBC35B-A44B-4119-B8DA-DE9E3DFADA20}"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44213AF-26F6-41FA-8D85-E2C5388D6E58}"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D5BBC35B-A44B-4119-B8DA-DE9E3DFADA20}" type="slidenum">
              <a:rPr kumimoji="0" lang="en-US" smtClean="0"/>
              <a:pPr/>
              <a:t>‹#›</a:t>
            </a:fld>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544213AF-26F6-41FA-8D85-E2C5388D6E58}" type="datetimeFigureOut">
              <a:rPr lang="en-US" smtClean="0"/>
              <a:pPr/>
              <a:t>4/16/2026</a:t>
            </a:fld>
            <a:endParaRPr lang="en-US" sz="1000" dirty="0">
              <a:solidFill>
                <a:schemeClr val="tx1"/>
              </a:solidFill>
            </a:endParaRPr>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lgn="r" eaLnBrk="1" latinLnBrk="0" hangingPunct="1"/>
            <a:endParaRPr kumimoji="0" lang="en-US" sz="1000" dirty="0">
              <a:solidFill>
                <a:schemeClr val="tx1"/>
              </a:solidFill>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D5BBC35B-A44B-4119-B8DA-DE9E3DFADA20}" type="slidenum">
              <a:rPr kumimoji="0" lang="en-US" smtClean="0"/>
              <a:pPr/>
              <a:t>‹#›</a:t>
            </a:fld>
            <a:endParaRPr kumimoji="0" lang="en-US" sz="1000" b="0">
              <a:solidFill>
                <a:schemeClr val="tx1"/>
              </a:solidFill>
            </a:endParaRPr>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Software Testing </a:t>
            </a:r>
            <a:endParaRPr lang="en-US" dirty="0"/>
          </a:p>
        </p:txBody>
      </p:sp>
      <p:sp>
        <p:nvSpPr>
          <p:cNvPr id="5" name="Subtitle 4"/>
          <p:cNvSpPr>
            <a:spLocks noGrp="1"/>
          </p:cNvSpPr>
          <p:nvPr>
            <p:ph type="subTitle" idx="1"/>
          </p:nvPr>
        </p:nvSpPr>
        <p:spPr/>
        <p:txBody>
          <a:bodyPr/>
          <a:lstStyle/>
          <a:p>
            <a:r>
              <a:rPr lang="en-US" dirty="0" err="1" smtClean="0"/>
              <a:t>Zeeshan</a:t>
            </a:r>
            <a:r>
              <a:rPr lang="en-US" dirty="0" smtClean="0"/>
              <a:t> Ali </a:t>
            </a:r>
            <a:r>
              <a:rPr lang="en-US" dirty="0" err="1" smtClean="0"/>
              <a:t>Rana</a:t>
            </a:r>
            <a:endParaRPr lang="en-US" dirty="0"/>
          </a:p>
        </p:txBody>
      </p:sp>
    </p:spTree>
    <p:extLst>
      <p:ext uri="{BB962C8B-B14F-4D97-AF65-F5344CB8AC3E}">
        <p14:creationId xmlns:p14="http://schemas.microsoft.com/office/powerpoint/2010/main" val="15825243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
          <p:cNvSpPr>
            <a:spLocks noGrp="1" noChangeArrowheads="1"/>
          </p:cNvSpPr>
          <p:nvPr>
            <p:ph type="title"/>
          </p:nvPr>
        </p:nvSpPr>
        <p:spPr>
          <a:xfrm>
            <a:off x="457200" y="819150"/>
            <a:ext cx="8218488" cy="1135063"/>
          </a:xfrm>
        </p:spPr>
        <p:txBody>
          <a:bodyPr>
            <a:normAutofit fontScale="90000"/>
          </a:bodyPr>
          <a:lstStyle/>
          <a:p>
            <a:pPr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smtClean="0"/>
              <a:t>Software Faults and Failures</a:t>
            </a:r>
            <a:br>
              <a:rPr lang="en-GB" dirty="0" smtClean="0"/>
            </a:br>
            <a:r>
              <a:rPr lang="en-US" sz="2800" dirty="0" smtClean="0"/>
              <a:t>Why Does Software Fail?</a:t>
            </a:r>
            <a:endParaRPr lang="en-GB" sz="2800" dirty="0" smtClean="0"/>
          </a:p>
        </p:txBody>
      </p:sp>
      <p:sp>
        <p:nvSpPr>
          <p:cNvPr id="6147" name="Rectangle 2"/>
          <p:cNvSpPr>
            <a:spLocks noGrp="1" noChangeArrowheads="1"/>
          </p:cNvSpPr>
          <p:nvPr>
            <p:ph idx="1"/>
          </p:nvPr>
        </p:nvSpPr>
        <p:spPr>
          <a:xfrm>
            <a:off x="457200" y="2266950"/>
            <a:ext cx="8218488" cy="3524250"/>
          </a:xfrm>
        </p:spPr>
        <p:txBody>
          <a:bodyPr>
            <a:normAutofit fontScale="92500"/>
          </a:bodyPr>
          <a:lstStyle/>
          <a:p>
            <a:pPr marL="45720">
              <a:lnSpc>
                <a:spcPct val="100000"/>
              </a:lnSpc>
              <a:spcBef>
                <a:spcPts val="1170"/>
              </a:spcBef>
            </a:pPr>
            <a:r>
              <a:rPr lang="en-US" sz="2400" b="1" u="sng" dirty="0">
                <a:solidFill>
                  <a:srgbClr val="000000"/>
                </a:solidFill>
                <a:uFill>
                  <a:solidFill>
                    <a:srgbClr val="000000"/>
                  </a:solidFill>
                </a:uFill>
                <a:latin typeface="Arial"/>
                <a:cs typeface="Arial"/>
              </a:rPr>
              <a:t>Fault</a:t>
            </a:r>
            <a:r>
              <a:rPr lang="en-US" sz="2400" b="1" u="sng" spc="-50" dirty="0">
                <a:solidFill>
                  <a:srgbClr val="000000"/>
                </a:solidFill>
                <a:uFill>
                  <a:solidFill>
                    <a:srgbClr val="000000"/>
                  </a:solidFill>
                </a:uFill>
                <a:latin typeface="Arial"/>
                <a:cs typeface="Arial"/>
              </a:rPr>
              <a:t> </a:t>
            </a:r>
            <a:r>
              <a:rPr lang="en-US" sz="2400" b="1" u="sng" spc="-10" dirty="0">
                <a:solidFill>
                  <a:srgbClr val="000000"/>
                </a:solidFill>
                <a:uFill>
                  <a:solidFill>
                    <a:srgbClr val="000000"/>
                  </a:solidFill>
                </a:uFill>
                <a:latin typeface="Arial"/>
                <a:cs typeface="Arial"/>
              </a:rPr>
              <a:t>(bug):</a:t>
            </a:r>
            <a:endParaRPr lang="en-US" sz="2400" dirty="0">
              <a:latin typeface="Arial"/>
              <a:cs typeface="Arial"/>
            </a:endParaRPr>
          </a:p>
          <a:p>
            <a:pPr marL="38100" marR="5080" indent="0">
              <a:lnSpc>
                <a:spcPts val="3020"/>
              </a:lnSpc>
              <a:spcBef>
                <a:spcPts val="1455"/>
              </a:spcBef>
              <a:buNone/>
            </a:pPr>
            <a:r>
              <a:rPr lang="en-US" sz="2400" dirty="0">
                <a:solidFill>
                  <a:srgbClr val="000000"/>
                </a:solidFill>
                <a:latin typeface="Arial MT"/>
                <a:cs typeface="Arial MT"/>
              </a:rPr>
              <a:t>Programming</a:t>
            </a:r>
            <a:r>
              <a:rPr lang="en-US" sz="2400" spc="-35" dirty="0">
                <a:solidFill>
                  <a:srgbClr val="000000"/>
                </a:solidFill>
                <a:latin typeface="Arial MT"/>
                <a:cs typeface="Arial MT"/>
              </a:rPr>
              <a:t> </a:t>
            </a:r>
            <a:r>
              <a:rPr lang="en-US" sz="2400" dirty="0">
                <a:solidFill>
                  <a:srgbClr val="000000"/>
                </a:solidFill>
                <a:latin typeface="Arial MT"/>
                <a:cs typeface="Arial MT"/>
              </a:rPr>
              <a:t>or</a:t>
            </a:r>
            <a:r>
              <a:rPr lang="en-US" sz="2400" spc="-65" dirty="0">
                <a:solidFill>
                  <a:srgbClr val="000000"/>
                </a:solidFill>
                <a:latin typeface="Arial MT"/>
                <a:cs typeface="Arial MT"/>
              </a:rPr>
              <a:t> </a:t>
            </a:r>
            <a:r>
              <a:rPr lang="en-US" sz="2400" dirty="0">
                <a:solidFill>
                  <a:srgbClr val="000000"/>
                </a:solidFill>
                <a:latin typeface="Arial MT"/>
                <a:cs typeface="Arial MT"/>
              </a:rPr>
              <a:t>design</a:t>
            </a:r>
            <a:r>
              <a:rPr lang="en-US" sz="2400" spc="-60" dirty="0">
                <a:solidFill>
                  <a:srgbClr val="000000"/>
                </a:solidFill>
                <a:latin typeface="Arial MT"/>
                <a:cs typeface="Arial MT"/>
              </a:rPr>
              <a:t> </a:t>
            </a:r>
            <a:r>
              <a:rPr lang="en-US" sz="2400" dirty="0">
                <a:solidFill>
                  <a:srgbClr val="000000"/>
                </a:solidFill>
                <a:latin typeface="Arial MT"/>
                <a:cs typeface="Arial MT"/>
              </a:rPr>
              <a:t>error</a:t>
            </a:r>
            <a:r>
              <a:rPr lang="en-US" sz="2400" spc="-70" dirty="0">
                <a:solidFill>
                  <a:srgbClr val="000000"/>
                </a:solidFill>
                <a:latin typeface="Arial MT"/>
                <a:cs typeface="Arial MT"/>
              </a:rPr>
              <a:t> </a:t>
            </a:r>
            <a:r>
              <a:rPr lang="en-US" sz="2400" dirty="0">
                <a:solidFill>
                  <a:srgbClr val="000000"/>
                </a:solidFill>
                <a:latin typeface="Arial MT"/>
                <a:cs typeface="Arial MT"/>
              </a:rPr>
              <a:t>whereby</a:t>
            </a:r>
            <a:r>
              <a:rPr lang="en-US" sz="2400" spc="-50" dirty="0">
                <a:solidFill>
                  <a:srgbClr val="000000"/>
                </a:solidFill>
                <a:latin typeface="Arial MT"/>
                <a:cs typeface="Arial MT"/>
              </a:rPr>
              <a:t> </a:t>
            </a:r>
            <a:r>
              <a:rPr lang="en-US" sz="2400" dirty="0">
                <a:solidFill>
                  <a:srgbClr val="000000"/>
                </a:solidFill>
                <a:latin typeface="Arial MT"/>
                <a:cs typeface="Arial MT"/>
              </a:rPr>
              <a:t>the</a:t>
            </a:r>
            <a:r>
              <a:rPr lang="en-US" sz="2400" spc="-65" dirty="0">
                <a:solidFill>
                  <a:srgbClr val="000000"/>
                </a:solidFill>
                <a:latin typeface="Arial MT"/>
                <a:cs typeface="Arial MT"/>
              </a:rPr>
              <a:t> </a:t>
            </a:r>
            <a:r>
              <a:rPr lang="en-US" sz="2400" dirty="0">
                <a:solidFill>
                  <a:srgbClr val="000000"/>
                </a:solidFill>
                <a:latin typeface="Arial MT"/>
                <a:cs typeface="Arial MT"/>
              </a:rPr>
              <a:t>delivered</a:t>
            </a:r>
            <a:r>
              <a:rPr lang="en-US" sz="2400" spc="-60" dirty="0">
                <a:solidFill>
                  <a:srgbClr val="000000"/>
                </a:solidFill>
                <a:latin typeface="Arial MT"/>
                <a:cs typeface="Arial MT"/>
              </a:rPr>
              <a:t> </a:t>
            </a:r>
            <a:r>
              <a:rPr lang="en-US" sz="2400" spc="-10" dirty="0">
                <a:solidFill>
                  <a:srgbClr val="000000"/>
                </a:solidFill>
                <a:latin typeface="Arial MT"/>
                <a:cs typeface="Arial MT"/>
              </a:rPr>
              <a:t>system </a:t>
            </a:r>
            <a:r>
              <a:rPr lang="en-US" sz="2400" dirty="0">
                <a:solidFill>
                  <a:srgbClr val="000000"/>
                </a:solidFill>
                <a:latin typeface="Arial MT"/>
                <a:cs typeface="Arial MT"/>
              </a:rPr>
              <a:t>does</a:t>
            </a:r>
            <a:r>
              <a:rPr lang="en-US" sz="2400" spc="-70" dirty="0">
                <a:solidFill>
                  <a:srgbClr val="000000"/>
                </a:solidFill>
                <a:latin typeface="Arial MT"/>
                <a:cs typeface="Arial MT"/>
              </a:rPr>
              <a:t> </a:t>
            </a:r>
            <a:r>
              <a:rPr lang="en-US" sz="2400" dirty="0">
                <a:solidFill>
                  <a:srgbClr val="000000"/>
                </a:solidFill>
                <a:latin typeface="Arial MT"/>
                <a:cs typeface="Arial MT"/>
              </a:rPr>
              <a:t>not</a:t>
            </a:r>
            <a:r>
              <a:rPr lang="en-US" sz="2400" spc="-70" dirty="0">
                <a:solidFill>
                  <a:srgbClr val="000000"/>
                </a:solidFill>
                <a:latin typeface="Arial MT"/>
                <a:cs typeface="Arial MT"/>
              </a:rPr>
              <a:t> </a:t>
            </a:r>
            <a:r>
              <a:rPr lang="en-US" sz="2400" dirty="0">
                <a:solidFill>
                  <a:srgbClr val="000000"/>
                </a:solidFill>
                <a:latin typeface="Arial MT"/>
                <a:cs typeface="Arial MT"/>
              </a:rPr>
              <a:t>conform</a:t>
            </a:r>
            <a:r>
              <a:rPr lang="en-US" sz="2400" spc="-65" dirty="0">
                <a:solidFill>
                  <a:srgbClr val="000000"/>
                </a:solidFill>
                <a:latin typeface="Arial MT"/>
                <a:cs typeface="Arial MT"/>
              </a:rPr>
              <a:t> </a:t>
            </a:r>
            <a:r>
              <a:rPr lang="en-US" sz="2400" dirty="0">
                <a:solidFill>
                  <a:srgbClr val="000000"/>
                </a:solidFill>
                <a:latin typeface="Arial MT"/>
                <a:cs typeface="Arial MT"/>
              </a:rPr>
              <a:t>to</a:t>
            </a:r>
            <a:r>
              <a:rPr lang="en-US" sz="2400" spc="-65" dirty="0">
                <a:solidFill>
                  <a:srgbClr val="000000"/>
                </a:solidFill>
                <a:latin typeface="Arial MT"/>
                <a:cs typeface="Arial MT"/>
              </a:rPr>
              <a:t> </a:t>
            </a:r>
            <a:r>
              <a:rPr lang="en-US" sz="2400" dirty="0">
                <a:solidFill>
                  <a:srgbClr val="000000"/>
                </a:solidFill>
                <a:latin typeface="Arial MT"/>
                <a:cs typeface="Arial MT"/>
              </a:rPr>
              <a:t>specification</a:t>
            </a:r>
            <a:r>
              <a:rPr lang="en-US" sz="2400" spc="-85" dirty="0">
                <a:solidFill>
                  <a:srgbClr val="000000"/>
                </a:solidFill>
                <a:latin typeface="Arial MT"/>
                <a:cs typeface="Arial MT"/>
              </a:rPr>
              <a:t> </a:t>
            </a:r>
            <a:r>
              <a:rPr lang="en-US" sz="2400" dirty="0">
                <a:solidFill>
                  <a:srgbClr val="000000"/>
                </a:solidFill>
                <a:latin typeface="Arial MT"/>
                <a:cs typeface="Arial MT"/>
              </a:rPr>
              <a:t>(e.g.,</a:t>
            </a:r>
            <a:r>
              <a:rPr lang="en-US" sz="2400" spc="-70" dirty="0">
                <a:solidFill>
                  <a:srgbClr val="000000"/>
                </a:solidFill>
                <a:latin typeface="Arial MT"/>
                <a:cs typeface="Arial MT"/>
              </a:rPr>
              <a:t> </a:t>
            </a:r>
            <a:r>
              <a:rPr lang="en-US" sz="2400" dirty="0">
                <a:solidFill>
                  <a:srgbClr val="000000"/>
                </a:solidFill>
                <a:latin typeface="Arial MT"/>
                <a:cs typeface="Arial MT"/>
              </a:rPr>
              <a:t>coding</a:t>
            </a:r>
            <a:r>
              <a:rPr lang="en-US" sz="2400" spc="-70" dirty="0">
                <a:solidFill>
                  <a:srgbClr val="000000"/>
                </a:solidFill>
                <a:latin typeface="Arial MT"/>
                <a:cs typeface="Arial MT"/>
              </a:rPr>
              <a:t> </a:t>
            </a:r>
            <a:r>
              <a:rPr lang="en-US" sz="2400" dirty="0">
                <a:solidFill>
                  <a:srgbClr val="000000"/>
                </a:solidFill>
                <a:latin typeface="Arial MT"/>
                <a:cs typeface="Arial MT"/>
              </a:rPr>
              <a:t>error,</a:t>
            </a:r>
            <a:r>
              <a:rPr lang="en-US" sz="2400" spc="-70" dirty="0">
                <a:solidFill>
                  <a:srgbClr val="000000"/>
                </a:solidFill>
                <a:latin typeface="Arial MT"/>
                <a:cs typeface="Arial MT"/>
              </a:rPr>
              <a:t> </a:t>
            </a:r>
            <a:r>
              <a:rPr lang="en-US" sz="2400" spc="-10" dirty="0">
                <a:solidFill>
                  <a:srgbClr val="000000"/>
                </a:solidFill>
                <a:latin typeface="Arial MT"/>
                <a:cs typeface="Arial MT"/>
              </a:rPr>
              <a:t>protocol error)</a:t>
            </a:r>
            <a:endParaRPr lang="en-US" sz="2400" dirty="0">
              <a:latin typeface="Arial MT"/>
              <a:cs typeface="Arial MT"/>
            </a:endParaRPr>
          </a:p>
          <a:p>
            <a:pPr marL="45720">
              <a:lnSpc>
                <a:spcPct val="100000"/>
              </a:lnSpc>
              <a:spcBef>
                <a:spcPts val="1025"/>
              </a:spcBef>
            </a:pPr>
            <a:r>
              <a:rPr lang="en-US" sz="2400" b="1" u="sng" spc="-10" dirty="0">
                <a:solidFill>
                  <a:srgbClr val="000000"/>
                </a:solidFill>
                <a:uFill>
                  <a:solidFill>
                    <a:srgbClr val="000000"/>
                  </a:solidFill>
                </a:uFill>
                <a:latin typeface="Arial"/>
                <a:cs typeface="Arial"/>
              </a:rPr>
              <a:t>Failure:</a:t>
            </a:r>
            <a:endParaRPr lang="en-US" sz="2400" dirty="0">
              <a:latin typeface="Arial"/>
              <a:cs typeface="Arial"/>
            </a:endParaRPr>
          </a:p>
          <a:p>
            <a:pPr marL="38100" marR="314960" indent="0">
              <a:lnSpc>
                <a:spcPts val="3030"/>
              </a:lnSpc>
              <a:spcBef>
                <a:spcPts val="1445"/>
              </a:spcBef>
              <a:buNone/>
            </a:pPr>
            <a:r>
              <a:rPr lang="en-US" sz="2400" dirty="0">
                <a:solidFill>
                  <a:srgbClr val="000000"/>
                </a:solidFill>
                <a:latin typeface="Arial MT"/>
                <a:cs typeface="Arial MT"/>
              </a:rPr>
              <a:t>Software</a:t>
            </a:r>
            <a:r>
              <a:rPr lang="en-US" sz="2400" spc="-50" dirty="0">
                <a:solidFill>
                  <a:srgbClr val="000000"/>
                </a:solidFill>
                <a:latin typeface="Arial MT"/>
                <a:cs typeface="Arial MT"/>
              </a:rPr>
              <a:t> </a:t>
            </a:r>
            <a:r>
              <a:rPr lang="en-US" sz="2400" dirty="0">
                <a:solidFill>
                  <a:srgbClr val="000000"/>
                </a:solidFill>
                <a:latin typeface="Arial MT"/>
                <a:cs typeface="Arial MT"/>
              </a:rPr>
              <a:t>does</a:t>
            </a:r>
            <a:r>
              <a:rPr lang="en-US" sz="2400" spc="-45" dirty="0">
                <a:solidFill>
                  <a:srgbClr val="000000"/>
                </a:solidFill>
                <a:latin typeface="Arial MT"/>
                <a:cs typeface="Arial MT"/>
              </a:rPr>
              <a:t> </a:t>
            </a:r>
            <a:r>
              <a:rPr lang="en-US" sz="2400" dirty="0">
                <a:solidFill>
                  <a:srgbClr val="000000"/>
                </a:solidFill>
                <a:latin typeface="Arial MT"/>
                <a:cs typeface="Arial MT"/>
              </a:rPr>
              <a:t>not</a:t>
            </a:r>
            <a:r>
              <a:rPr lang="en-US" sz="2400" spc="-50" dirty="0">
                <a:solidFill>
                  <a:srgbClr val="000000"/>
                </a:solidFill>
                <a:latin typeface="Arial MT"/>
                <a:cs typeface="Arial MT"/>
              </a:rPr>
              <a:t> </a:t>
            </a:r>
            <a:r>
              <a:rPr lang="en-US" sz="2400" dirty="0">
                <a:solidFill>
                  <a:srgbClr val="000000"/>
                </a:solidFill>
                <a:latin typeface="Arial MT"/>
                <a:cs typeface="Arial MT"/>
              </a:rPr>
              <a:t>deliver</a:t>
            </a:r>
            <a:r>
              <a:rPr lang="en-US" sz="2400" spc="-45" dirty="0">
                <a:solidFill>
                  <a:srgbClr val="000000"/>
                </a:solidFill>
                <a:latin typeface="Arial MT"/>
                <a:cs typeface="Arial MT"/>
              </a:rPr>
              <a:t> </a:t>
            </a:r>
            <a:r>
              <a:rPr lang="en-US" sz="2400" dirty="0">
                <a:solidFill>
                  <a:srgbClr val="000000"/>
                </a:solidFill>
                <a:latin typeface="Arial MT"/>
                <a:cs typeface="Arial MT"/>
              </a:rPr>
              <a:t>the</a:t>
            </a:r>
            <a:r>
              <a:rPr lang="en-US" sz="2400" spc="-45" dirty="0">
                <a:solidFill>
                  <a:srgbClr val="000000"/>
                </a:solidFill>
                <a:latin typeface="Arial MT"/>
                <a:cs typeface="Arial MT"/>
              </a:rPr>
              <a:t> </a:t>
            </a:r>
            <a:r>
              <a:rPr lang="en-US" sz="2400" dirty="0">
                <a:solidFill>
                  <a:srgbClr val="000000"/>
                </a:solidFill>
                <a:latin typeface="Arial MT"/>
                <a:cs typeface="Arial MT"/>
              </a:rPr>
              <a:t>service</a:t>
            </a:r>
            <a:r>
              <a:rPr lang="en-US" sz="2400" spc="-45" dirty="0">
                <a:solidFill>
                  <a:srgbClr val="000000"/>
                </a:solidFill>
                <a:latin typeface="Arial MT"/>
                <a:cs typeface="Arial MT"/>
              </a:rPr>
              <a:t> </a:t>
            </a:r>
            <a:r>
              <a:rPr lang="en-US" sz="2400" dirty="0">
                <a:solidFill>
                  <a:srgbClr val="000000"/>
                </a:solidFill>
                <a:latin typeface="Arial MT"/>
                <a:cs typeface="Arial MT"/>
              </a:rPr>
              <a:t>expected</a:t>
            </a:r>
            <a:r>
              <a:rPr lang="en-US" sz="2400" spc="-55" dirty="0">
                <a:solidFill>
                  <a:srgbClr val="000000"/>
                </a:solidFill>
                <a:latin typeface="Arial MT"/>
                <a:cs typeface="Arial MT"/>
              </a:rPr>
              <a:t> </a:t>
            </a:r>
            <a:r>
              <a:rPr lang="en-US" sz="2400" dirty="0">
                <a:solidFill>
                  <a:srgbClr val="000000"/>
                </a:solidFill>
                <a:latin typeface="Arial MT"/>
                <a:cs typeface="Arial MT"/>
              </a:rPr>
              <a:t>by</a:t>
            </a:r>
            <a:r>
              <a:rPr lang="en-US" sz="2400" spc="-45" dirty="0">
                <a:solidFill>
                  <a:srgbClr val="000000"/>
                </a:solidFill>
                <a:latin typeface="Arial MT"/>
                <a:cs typeface="Arial MT"/>
              </a:rPr>
              <a:t> </a:t>
            </a:r>
            <a:r>
              <a:rPr lang="en-US" sz="2400" dirty="0">
                <a:solidFill>
                  <a:srgbClr val="000000"/>
                </a:solidFill>
                <a:latin typeface="Arial MT"/>
                <a:cs typeface="Arial MT"/>
              </a:rPr>
              <a:t>the</a:t>
            </a:r>
            <a:r>
              <a:rPr lang="en-US" sz="2400" spc="-45" dirty="0">
                <a:solidFill>
                  <a:srgbClr val="000000"/>
                </a:solidFill>
                <a:latin typeface="Arial MT"/>
                <a:cs typeface="Arial MT"/>
              </a:rPr>
              <a:t> </a:t>
            </a:r>
            <a:r>
              <a:rPr lang="en-US" sz="2400" spc="-20" dirty="0">
                <a:solidFill>
                  <a:srgbClr val="000000"/>
                </a:solidFill>
                <a:latin typeface="Arial MT"/>
                <a:cs typeface="Arial MT"/>
              </a:rPr>
              <a:t>user </a:t>
            </a:r>
            <a:r>
              <a:rPr lang="en-US" sz="2400" dirty="0">
                <a:solidFill>
                  <a:srgbClr val="000000"/>
                </a:solidFill>
                <a:latin typeface="Arial MT"/>
                <a:cs typeface="Arial MT"/>
              </a:rPr>
              <a:t>(e.g.,</a:t>
            </a:r>
            <a:r>
              <a:rPr lang="en-US" sz="2400" spc="-70" dirty="0">
                <a:solidFill>
                  <a:srgbClr val="000000"/>
                </a:solidFill>
                <a:latin typeface="Arial MT"/>
                <a:cs typeface="Arial MT"/>
              </a:rPr>
              <a:t> </a:t>
            </a:r>
            <a:r>
              <a:rPr lang="en-US" sz="2400" dirty="0">
                <a:solidFill>
                  <a:srgbClr val="000000"/>
                </a:solidFill>
                <a:latin typeface="Arial MT"/>
                <a:cs typeface="Arial MT"/>
              </a:rPr>
              <a:t>mistake</a:t>
            </a:r>
            <a:r>
              <a:rPr lang="en-US" sz="2400" spc="-60" dirty="0">
                <a:solidFill>
                  <a:srgbClr val="000000"/>
                </a:solidFill>
                <a:latin typeface="Arial MT"/>
                <a:cs typeface="Arial MT"/>
              </a:rPr>
              <a:t> </a:t>
            </a:r>
            <a:r>
              <a:rPr lang="en-US" sz="2400" dirty="0">
                <a:solidFill>
                  <a:srgbClr val="000000"/>
                </a:solidFill>
                <a:latin typeface="Arial MT"/>
                <a:cs typeface="Arial MT"/>
              </a:rPr>
              <a:t>in</a:t>
            </a:r>
            <a:r>
              <a:rPr lang="en-US" sz="2400" spc="-65" dirty="0">
                <a:solidFill>
                  <a:srgbClr val="000000"/>
                </a:solidFill>
                <a:latin typeface="Arial MT"/>
                <a:cs typeface="Arial MT"/>
              </a:rPr>
              <a:t> </a:t>
            </a:r>
            <a:r>
              <a:rPr lang="en-US" sz="2400" dirty="0">
                <a:solidFill>
                  <a:srgbClr val="000000"/>
                </a:solidFill>
                <a:latin typeface="Arial MT"/>
                <a:cs typeface="Arial MT"/>
              </a:rPr>
              <a:t>requirements,</a:t>
            </a:r>
            <a:r>
              <a:rPr lang="en-US" sz="2400" spc="-65" dirty="0">
                <a:solidFill>
                  <a:srgbClr val="000000"/>
                </a:solidFill>
                <a:latin typeface="Arial MT"/>
                <a:cs typeface="Arial MT"/>
              </a:rPr>
              <a:t> </a:t>
            </a:r>
            <a:r>
              <a:rPr lang="en-US" sz="2400" dirty="0">
                <a:solidFill>
                  <a:srgbClr val="000000"/>
                </a:solidFill>
                <a:latin typeface="Arial MT"/>
                <a:cs typeface="Arial MT"/>
              </a:rPr>
              <a:t>confusing</a:t>
            </a:r>
            <a:r>
              <a:rPr lang="en-US" sz="2400" spc="-60" dirty="0">
                <a:solidFill>
                  <a:srgbClr val="000000"/>
                </a:solidFill>
                <a:latin typeface="Arial MT"/>
                <a:cs typeface="Arial MT"/>
              </a:rPr>
              <a:t> </a:t>
            </a:r>
            <a:r>
              <a:rPr lang="en-US" sz="2400" dirty="0">
                <a:solidFill>
                  <a:srgbClr val="000000"/>
                </a:solidFill>
                <a:latin typeface="Arial MT"/>
                <a:cs typeface="Arial MT"/>
              </a:rPr>
              <a:t>user</a:t>
            </a:r>
            <a:r>
              <a:rPr lang="en-US" sz="2400" spc="-65" dirty="0">
                <a:solidFill>
                  <a:srgbClr val="000000"/>
                </a:solidFill>
                <a:latin typeface="Arial MT"/>
                <a:cs typeface="Arial MT"/>
              </a:rPr>
              <a:t> </a:t>
            </a:r>
            <a:r>
              <a:rPr lang="en-US" sz="2400" spc="-10" dirty="0">
                <a:solidFill>
                  <a:srgbClr val="000000"/>
                </a:solidFill>
                <a:latin typeface="Arial MT"/>
                <a:cs typeface="Arial MT"/>
              </a:rPr>
              <a:t>interface)</a:t>
            </a:r>
            <a:endParaRPr lang="en-US" sz="2400" dirty="0">
              <a:latin typeface="Arial MT"/>
              <a:cs typeface="Arial MT"/>
            </a:endParaRPr>
          </a:p>
          <a:p>
            <a:pPr marL="38100" marR="5080" indent="7620">
              <a:lnSpc>
                <a:spcPts val="3020"/>
              </a:lnSpc>
              <a:spcBef>
                <a:spcPts val="1455"/>
              </a:spcBef>
            </a:pPr>
            <a:endParaRPr lang="en-US" sz="2400" dirty="0">
              <a:latin typeface="Arial MT"/>
              <a:cs typeface="Arial MT"/>
            </a:endParaRP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
          <p:cNvSpPr>
            <a:spLocks noGrp="1" noChangeArrowheads="1"/>
          </p:cNvSpPr>
          <p:nvPr>
            <p:ph type="title"/>
          </p:nvPr>
        </p:nvSpPr>
        <p:spPr>
          <a:xfrm>
            <a:off x="457200" y="819150"/>
            <a:ext cx="8218488" cy="1135063"/>
          </a:xfrm>
        </p:spPr>
        <p:txBody>
          <a:bodyPr>
            <a:normAutofit fontScale="90000"/>
          </a:bodyPr>
          <a:lstStyle/>
          <a:p>
            <a:pPr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smtClean="0"/>
              <a:t>Software Faults and Failures</a:t>
            </a:r>
            <a:br>
              <a:rPr lang="en-GB" dirty="0" smtClean="0"/>
            </a:br>
            <a:r>
              <a:rPr lang="en-US" sz="2800" dirty="0" smtClean="0"/>
              <a:t>Why Does Software Fail?</a:t>
            </a:r>
            <a:endParaRPr lang="en-GB" sz="2800" dirty="0" smtClean="0"/>
          </a:p>
        </p:txBody>
      </p:sp>
      <p:sp>
        <p:nvSpPr>
          <p:cNvPr id="6147" name="Rectangle 2"/>
          <p:cNvSpPr>
            <a:spLocks noGrp="1" noChangeArrowheads="1"/>
          </p:cNvSpPr>
          <p:nvPr>
            <p:ph idx="1"/>
          </p:nvPr>
        </p:nvSpPr>
        <p:spPr>
          <a:xfrm>
            <a:off x="457200" y="2266950"/>
            <a:ext cx="8218488" cy="3524250"/>
          </a:xfrm>
        </p:spPr>
        <p:txBody>
          <a:bodyPr/>
          <a:lstStyle/>
          <a:p>
            <a:pPr eaLnBrk="1" hangingPunct="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dirty="0" smtClean="0"/>
              <a:t>Wrong requirement:  not what the customer wants</a:t>
            </a:r>
          </a:p>
          <a:p>
            <a:pPr eaLnBrk="1" hangingPunct="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dirty="0" smtClean="0"/>
              <a:t>Missing requirement</a:t>
            </a:r>
          </a:p>
          <a:p>
            <a:pPr eaLnBrk="1" hangingPunct="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dirty="0" smtClean="0"/>
              <a:t>Requirement impossible to implement</a:t>
            </a:r>
          </a:p>
          <a:p>
            <a:pPr eaLnBrk="1" hangingPunct="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dirty="0" smtClean="0"/>
              <a:t>Faulty design</a:t>
            </a:r>
          </a:p>
          <a:p>
            <a:pPr eaLnBrk="1" hangingPunct="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dirty="0" smtClean="0"/>
              <a:t>Faulty code</a:t>
            </a:r>
          </a:p>
          <a:p>
            <a:pPr eaLnBrk="1" hangingPunct="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dirty="0" smtClean="0"/>
              <a:t>Improperly implemented design</a:t>
            </a:r>
            <a:endParaRPr lang="en-GB" dirty="0" smtClean="0"/>
          </a:p>
        </p:txBody>
      </p:sp>
    </p:spTree>
    <p:extLst>
      <p:ext uri="{BB962C8B-B14F-4D97-AF65-F5344CB8AC3E}">
        <p14:creationId xmlns:p14="http://schemas.microsoft.com/office/powerpoint/2010/main" val="3000843545"/>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4002733"/>
            <a:ext cx="2805113" cy="2834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70" name="Rectangle 2"/>
          <p:cNvSpPr>
            <a:spLocks noGrp="1" noChangeArrowheads="1"/>
          </p:cNvSpPr>
          <p:nvPr>
            <p:ph type="title"/>
          </p:nvPr>
        </p:nvSpPr>
        <p:spPr/>
        <p:txBody>
          <a:bodyPr>
            <a:normAutofit/>
          </a:bodyPr>
          <a:lstStyle/>
          <a:p>
            <a:pPr eaLnBrk="1" hangingPunct="1"/>
            <a:r>
              <a:rPr lang="en-US" dirty="0" smtClean="0"/>
              <a:t>Objective of Testing</a:t>
            </a:r>
          </a:p>
        </p:txBody>
      </p:sp>
      <p:sp>
        <p:nvSpPr>
          <p:cNvPr id="7171" name="Rectangle 3"/>
          <p:cNvSpPr>
            <a:spLocks noGrp="1" noChangeArrowheads="1"/>
          </p:cNvSpPr>
          <p:nvPr>
            <p:ph idx="1"/>
          </p:nvPr>
        </p:nvSpPr>
        <p:spPr/>
        <p:txBody>
          <a:bodyPr/>
          <a:lstStyle/>
          <a:p>
            <a:pPr eaLnBrk="1" hangingPunct="1"/>
            <a:r>
              <a:rPr lang="en-US" dirty="0" smtClean="0"/>
              <a:t>Objective of testing: discover faults</a:t>
            </a:r>
          </a:p>
          <a:p>
            <a:pPr eaLnBrk="1" hangingPunct="1"/>
            <a:r>
              <a:rPr lang="en-US" dirty="0" smtClean="0"/>
              <a:t>A test is successful only when a fault is discovered</a:t>
            </a:r>
          </a:p>
          <a:p>
            <a:pPr lvl="1" eaLnBrk="1" hangingPunct="1"/>
            <a:r>
              <a:rPr lang="en-US" dirty="0" smtClean="0"/>
              <a:t>Fault identification is the process of determining what fault caused the failure</a:t>
            </a:r>
          </a:p>
          <a:p>
            <a:pPr lvl="1" eaLnBrk="1" hangingPunct="1"/>
            <a:r>
              <a:rPr lang="en-US" dirty="0" smtClean="0"/>
              <a:t>Fault correction is the process of making changes to the system so that the faults are removed</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smtClean="0"/>
              <a:t>Elements of a Test Case</a:t>
            </a:r>
          </a:p>
        </p:txBody>
      </p:sp>
      <p:sp>
        <p:nvSpPr>
          <p:cNvPr id="8195" name="Content Placeholder 2"/>
          <p:cNvSpPr>
            <a:spLocks noGrp="1"/>
          </p:cNvSpPr>
          <p:nvPr>
            <p:ph idx="1"/>
          </p:nvPr>
        </p:nvSpPr>
        <p:spPr/>
        <p:txBody>
          <a:bodyPr/>
          <a:lstStyle/>
          <a:p>
            <a:r>
              <a:rPr lang="en-US" smtClean="0"/>
              <a:t>Purpose</a:t>
            </a:r>
          </a:p>
          <a:p>
            <a:r>
              <a:rPr lang="en-US" smtClean="0"/>
              <a:t>Input</a:t>
            </a:r>
          </a:p>
          <a:p>
            <a:r>
              <a:rPr lang="en-US" smtClean="0"/>
              <a:t>Expected Output</a:t>
            </a:r>
          </a:p>
          <a:p>
            <a:r>
              <a:rPr lang="en-US" smtClean="0"/>
              <a:t>Actual Output</a:t>
            </a:r>
          </a:p>
          <a:p>
            <a:r>
              <a:rPr lang="en-US" smtClean="0"/>
              <a:t>Sample Format:</a:t>
            </a:r>
          </a:p>
          <a:p>
            <a:pPr lvl="1"/>
            <a:endParaRPr lang="en-US" smtClean="0"/>
          </a:p>
        </p:txBody>
      </p:sp>
      <p:graphicFrame>
        <p:nvGraphicFramePr>
          <p:cNvPr id="2" name="Table 1"/>
          <p:cNvGraphicFramePr>
            <a:graphicFrameLocks noGrp="1"/>
          </p:cNvGraphicFramePr>
          <p:nvPr>
            <p:extLst>
              <p:ext uri="{D42A27DB-BD31-4B8C-83A1-F6EECF244321}">
                <p14:modId xmlns:p14="http://schemas.microsoft.com/office/powerpoint/2010/main" val="3878703246"/>
              </p:ext>
            </p:extLst>
          </p:nvPr>
        </p:nvGraphicFramePr>
        <p:xfrm>
          <a:off x="304800" y="4800600"/>
          <a:ext cx="8534400" cy="949960"/>
        </p:xfrm>
        <a:graphic>
          <a:graphicData uri="http://schemas.openxmlformats.org/drawingml/2006/table">
            <a:tbl>
              <a:tblPr firstRow="1" bandRow="1">
                <a:tableStyleId>{5C22544A-7EE6-4342-B048-85BDC9FD1C3A}</a:tableStyleId>
              </a:tblPr>
              <a:tblGrid>
                <a:gridCol w="1422400">
                  <a:extLst>
                    <a:ext uri="{9D8B030D-6E8A-4147-A177-3AD203B41FA5}">
                      <a16:colId xmlns:a16="http://schemas.microsoft.com/office/drawing/2014/main" xmlns="" val="20000"/>
                    </a:ext>
                  </a:extLst>
                </a:gridCol>
                <a:gridCol w="1422400">
                  <a:extLst>
                    <a:ext uri="{9D8B030D-6E8A-4147-A177-3AD203B41FA5}">
                      <a16:colId xmlns:a16="http://schemas.microsoft.com/office/drawing/2014/main" xmlns="" val="20001"/>
                    </a:ext>
                  </a:extLst>
                </a:gridCol>
                <a:gridCol w="1422400">
                  <a:extLst>
                    <a:ext uri="{9D8B030D-6E8A-4147-A177-3AD203B41FA5}">
                      <a16:colId xmlns:a16="http://schemas.microsoft.com/office/drawing/2014/main" xmlns="" val="20002"/>
                    </a:ext>
                  </a:extLst>
                </a:gridCol>
                <a:gridCol w="1422400">
                  <a:extLst>
                    <a:ext uri="{9D8B030D-6E8A-4147-A177-3AD203B41FA5}">
                      <a16:colId xmlns:a16="http://schemas.microsoft.com/office/drawing/2014/main" xmlns="" val="20003"/>
                    </a:ext>
                  </a:extLst>
                </a:gridCol>
                <a:gridCol w="1422400">
                  <a:extLst>
                    <a:ext uri="{9D8B030D-6E8A-4147-A177-3AD203B41FA5}">
                      <a16:colId xmlns:a16="http://schemas.microsoft.com/office/drawing/2014/main" xmlns="" val="20004"/>
                    </a:ext>
                  </a:extLst>
                </a:gridCol>
                <a:gridCol w="1422400">
                  <a:extLst>
                    <a:ext uri="{9D8B030D-6E8A-4147-A177-3AD203B41FA5}">
                      <a16:colId xmlns:a16="http://schemas.microsoft.com/office/drawing/2014/main" xmlns="" val="20005"/>
                    </a:ext>
                  </a:extLst>
                </a:gridCol>
              </a:tblGrid>
              <a:tr h="370840">
                <a:tc>
                  <a:txBody>
                    <a:bodyPr/>
                    <a:lstStyle/>
                    <a:p>
                      <a:r>
                        <a:rPr lang="en-US" sz="1600" dirty="0" smtClean="0"/>
                        <a:t>Test Case ID</a:t>
                      </a:r>
                      <a:endParaRPr lang="en-US" sz="1600" dirty="0"/>
                    </a:p>
                  </a:txBody>
                  <a:tcPr/>
                </a:tc>
                <a:tc>
                  <a:txBody>
                    <a:bodyPr/>
                    <a:lstStyle/>
                    <a:p>
                      <a:r>
                        <a:rPr lang="en-US" sz="1600" dirty="0" smtClean="0"/>
                        <a:t>Purpose</a:t>
                      </a:r>
                      <a:endParaRPr lang="en-US" sz="1600" dirty="0"/>
                    </a:p>
                  </a:txBody>
                  <a:tcPr/>
                </a:tc>
                <a:tc>
                  <a:txBody>
                    <a:bodyPr/>
                    <a:lstStyle/>
                    <a:p>
                      <a:r>
                        <a:rPr lang="en-US" sz="1600" dirty="0" smtClean="0"/>
                        <a:t>Input Data</a:t>
                      </a:r>
                      <a:endParaRPr lang="en-US" sz="1600" dirty="0"/>
                    </a:p>
                  </a:txBody>
                  <a:tcPr/>
                </a:tc>
                <a:tc>
                  <a:txBody>
                    <a:bodyPr/>
                    <a:lstStyle/>
                    <a:p>
                      <a:r>
                        <a:rPr lang="en-US" sz="1600" dirty="0" smtClean="0"/>
                        <a:t>Expected Output</a:t>
                      </a:r>
                      <a:endParaRPr lang="en-US" sz="1600" dirty="0"/>
                    </a:p>
                  </a:txBody>
                  <a:tcPr/>
                </a:tc>
                <a:tc>
                  <a:txBody>
                    <a:bodyPr/>
                    <a:lstStyle/>
                    <a:p>
                      <a:r>
                        <a:rPr lang="en-US" sz="1600" dirty="0" smtClean="0"/>
                        <a:t>Actual Output</a:t>
                      </a:r>
                      <a:endParaRPr lang="en-US" sz="1600" dirty="0"/>
                    </a:p>
                  </a:txBody>
                  <a:tcPr/>
                </a:tc>
                <a:tc>
                  <a:txBody>
                    <a:bodyPr/>
                    <a:lstStyle/>
                    <a:p>
                      <a:r>
                        <a:rPr lang="en-US" sz="1600" dirty="0" smtClean="0"/>
                        <a:t>Result</a:t>
                      </a:r>
                      <a:endParaRPr lang="en-US" sz="1600" dirty="0"/>
                    </a:p>
                  </a:txBody>
                  <a:tcPr/>
                </a:tc>
                <a:extLst>
                  <a:ext uri="{0D108BD9-81ED-4DB2-BD59-A6C34878D82A}">
                    <a16:rowId xmlns:a16="http://schemas.microsoft.com/office/drawing/2014/main" xmlns="" val="10000"/>
                  </a:ext>
                </a:extLst>
              </a:tr>
              <a:tr h="370840">
                <a:tc>
                  <a:txBody>
                    <a:bodyPr/>
                    <a:lstStyle/>
                    <a:p>
                      <a:endParaRPr lang="en-US" sz="1600"/>
                    </a:p>
                  </a:txBody>
                  <a:tcPr/>
                </a:tc>
                <a:tc>
                  <a:txBody>
                    <a:bodyPr/>
                    <a:lstStyle/>
                    <a:p>
                      <a:endParaRPr lang="en-US" sz="1600"/>
                    </a:p>
                  </a:txBody>
                  <a:tcPr/>
                </a:tc>
                <a:tc>
                  <a:txBody>
                    <a:bodyPr/>
                    <a:lstStyle/>
                    <a:p>
                      <a:endParaRPr lang="en-US" sz="1600"/>
                    </a:p>
                  </a:txBody>
                  <a:tcPr/>
                </a:tc>
                <a:tc>
                  <a:txBody>
                    <a:bodyPr/>
                    <a:lstStyle/>
                    <a:p>
                      <a:endParaRPr lang="en-US" sz="1600"/>
                    </a:p>
                  </a:txBody>
                  <a:tcPr/>
                </a:tc>
                <a:tc>
                  <a:txBody>
                    <a:bodyPr/>
                    <a:lstStyle/>
                    <a:p>
                      <a:endParaRPr lang="en-US" sz="1600"/>
                    </a:p>
                  </a:txBody>
                  <a:tcPr/>
                </a:tc>
                <a:tc>
                  <a:txBody>
                    <a:bodyPr/>
                    <a:lstStyle/>
                    <a:p>
                      <a:endParaRPr lang="en-US" sz="1600" dirty="0"/>
                    </a:p>
                  </a:txBody>
                  <a:tcPr/>
                </a:tc>
                <a:extLst>
                  <a:ext uri="{0D108BD9-81ED-4DB2-BD59-A6C34878D82A}">
                    <a16:rowId xmlns:a16="http://schemas.microsoft.com/office/drawing/2014/main" xmlns="" val="10001"/>
                  </a:ext>
                </a:extLst>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a:bodyPr>
          <a:lstStyle/>
          <a:p>
            <a:pPr eaLnBrk="1" hangingPunct="1"/>
            <a:r>
              <a:rPr lang="en-US" dirty="0" smtClean="0"/>
              <a:t>Types of Faults</a:t>
            </a:r>
          </a:p>
        </p:txBody>
      </p:sp>
      <p:sp>
        <p:nvSpPr>
          <p:cNvPr id="9219" name="Rectangle 3"/>
          <p:cNvSpPr>
            <a:spLocks noGrp="1" noChangeArrowheads="1"/>
          </p:cNvSpPr>
          <p:nvPr>
            <p:ph idx="1"/>
          </p:nvPr>
        </p:nvSpPr>
        <p:spPr/>
        <p:txBody>
          <a:bodyPr/>
          <a:lstStyle/>
          <a:p>
            <a:pPr eaLnBrk="1" hangingPunct="1">
              <a:lnSpc>
                <a:spcPct val="90000"/>
              </a:lnSpc>
            </a:pPr>
            <a:r>
              <a:rPr lang="en-US" sz="2400" dirty="0" smtClean="0"/>
              <a:t>Algorithmic fault (logic)</a:t>
            </a:r>
          </a:p>
          <a:p>
            <a:pPr eaLnBrk="1" hangingPunct="1">
              <a:lnSpc>
                <a:spcPct val="90000"/>
              </a:lnSpc>
            </a:pPr>
            <a:r>
              <a:rPr lang="en-US" sz="2400" dirty="0" smtClean="0"/>
              <a:t>Computation and precision fault</a:t>
            </a:r>
          </a:p>
          <a:p>
            <a:pPr lvl="1" eaLnBrk="1" hangingPunct="1">
              <a:lnSpc>
                <a:spcPct val="90000"/>
              </a:lnSpc>
            </a:pPr>
            <a:r>
              <a:rPr lang="en-US" sz="2000" dirty="0" smtClean="0"/>
              <a:t>a formula’s implementation is wrong</a:t>
            </a:r>
          </a:p>
          <a:p>
            <a:pPr eaLnBrk="1" hangingPunct="1">
              <a:lnSpc>
                <a:spcPct val="90000"/>
              </a:lnSpc>
            </a:pPr>
            <a:r>
              <a:rPr lang="en-US" sz="2400" dirty="0" smtClean="0"/>
              <a:t>Capacity or boundary faults</a:t>
            </a:r>
          </a:p>
          <a:p>
            <a:pPr lvl="1" eaLnBrk="1" hangingPunct="1">
              <a:lnSpc>
                <a:spcPct val="90000"/>
              </a:lnSpc>
            </a:pPr>
            <a:r>
              <a:rPr lang="en-US" sz="2000" dirty="0" smtClean="0"/>
              <a:t>System’s performance not acceptable when certain limits are reached</a:t>
            </a:r>
          </a:p>
          <a:p>
            <a:pPr eaLnBrk="1" hangingPunct="1">
              <a:lnSpc>
                <a:spcPct val="90000"/>
              </a:lnSpc>
            </a:pPr>
            <a:r>
              <a:rPr lang="en-US" sz="2400" dirty="0" smtClean="0"/>
              <a:t>Timing or coordination faults</a:t>
            </a:r>
          </a:p>
          <a:p>
            <a:pPr eaLnBrk="1" hangingPunct="1">
              <a:lnSpc>
                <a:spcPct val="90000"/>
              </a:lnSpc>
            </a:pPr>
            <a:r>
              <a:rPr lang="en-US" sz="2400" dirty="0" smtClean="0"/>
              <a:t>Performance faults</a:t>
            </a:r>
          </a:p>
          <a:p>
            <a:pPr lvl="1" eaLnBrk="1" hangingPunct="1">
              <a:lnSpc>
                <a:spcPct val="90000"/>
              </a:lnSpc>
            </a:pPr>
            <a:r>
              <a:rPr lang="en-US" sz="2000" dirty="0" smtClean="0"/>
              <a:t>System does not perform at the speed prescribed</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p:cNvSpPr>
            <a:spLocks noGrp="1" noChangeArrowheads="1"/>
          </p:cNvSpPr>
          <p:nvPr>
            <p:ph type="title"/>
          </p:nvPr>
        </p:nvSpPr>
        <p:spPr>
          <a:xfrm>
            <a:off x="457200" y="1150937"/>
            <a:ext cx="8218488" cy="1135063"/>
          </a:xfrm>
        </p:spPr>
        <p:txBody>
          <a:bodyPr>
            <a:normAutofit fontScale="90000"/>
          </a:bodyPr>
          <a:lstStyle/>
          <a:p>
            <a:pPr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smtClean="0"/>
              <a:t>Software Faults and Failures</a:t>
            </a:r>
            <a:br>
              <a:rPr lang="en-GB" dirty="0" smtClean="0"/>
            </a:br>
            <a:r>
              <a:rPr lang="en-GB" sz="2800" dirty="0" smtClean="0"/>
              <a:t>Typical Algorithmic Faults</a:t>
            </a:r>
          </a:p>
        </p:txBody>
      </p:sp>
      <p:sp>
        <p:nvSpPr>
          <p:cNvPr id="10243" name="Rectangle 2"/>
          <p:cNvSpPr>
            <a:spLocks noGrp="1" noChangeArrowheads="1"/>
          </p:cNvSpPr>
          <p:nvPr>
            <p:ph idx="1"/>
          </p:nvPr>
        </p:nvSpPr>
        <p:spPr>
          <a:xfrm>
            <a:off x="457200" y="2571750"/>
            <a:ext cx="8218488" cy="2838450"/>
          </a:xfrm>
        </p:spPr>
        <p:txBody>
          <a:bodyPr/>
          <a:lstStyle/>
          <a:p>
            <a:pPr eaLnBrk="1" hangingPunct="1">
              <a:lnSpc>
                <a:spcPct val="90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smtClean="0"/>
              <a:t>An algorithmic fault occurs when a component’s algorithm or logic does not produce proper output</a:t>
            </a:r>
          </a:p>
          <a:p>
            <a:pPr lvl="1" eaLnBrk="1" hangingPunct="1">
              <a:lnSpc>
                <a:spcPct val="90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smtClean="0"/>
              <a:t>Branching too soon</a:t>
            </a:r>
          </a:p>
          <a:p>
            <a:pPr lvl="1" eaLnBrk="1" hangingPunct="1">
              <a:lnSpc>
                <a:spcPct val="90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smtClean="0"/>
              <a:t>Branching too late</a:t>
            </a:r>
          </a:p>
          <a:p>
            <a:pPr lvl="1" eaLnBrk="1" hangingPunct="1">
              <a:lnSpc>
                <a:spcPct val="90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smtClean="0"/>
              <a:t>Forgetting to initialize variable or set loop invariants</a:t>
            </a:r>
          </a:p>
          <a:p>
            <a:pPr lvl="1" eaLnBrk="1" hangingPunct="1">
              <a:lnSpc>
                <a:spcPct val="90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smtClean="0"/>
              <a:t>Comparing variables of inappropriate data types</a:t>
            </a:r>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1143000"/>
            <a:ext cx="8229600" cy="1143000"/>
          </a:xfrm>
        </p:spPr>
        <p:txBody>
          <a:bodyPr>
            <a:noAutofit/>
          </a:bodyPr>
          <a:lstStyle/>
          <a:p>
            <a:pPr eaLnBrk="1" hangingPunct="1"/>
            <a:r>
              <a:rPr lang="en-US" dirty="0"/>
              <a:t>Different Level of Failure Severity</a:t>
            </a:r>
          </a:p>
        </p:txBody>
      </p:sp>
      <p:sp>
        <p:nvSpPr>
          <p:cNvPr id="16387" name="Rectangle 3"/>
          <p:cNvSpPr>
            <a:spLocks noGrp="1" noChangeArrowheads="1"/>
          </p:cNvSpPr>
          <p:nvPr>
            <p:ph type="body" idx="1"/>
          </p:nvPr>
        </p:nvSpPr>
        <p:spPr>
          <a:xfrm>
            <a:off x="457200" y="2316480"/>
            <a:ext cx="8229600" cy="3931920"/>
          </a:xfrm>
        </p:spPr>
        <p:txBody>
          <a:bodyPr/>
          <a:lstStyle/>
          <a:p>
            <a:pPr eaLnBrk="1" hangingPunct="1"/>
            <a:r>
              <a:rPr lang="en-US" dirty="0" smtClean="0"/>
              <a:t>Catastrophic: causes death or system loss</a:t>
            </a:r>
          </a:p>
          <a:p>
            <a:pPr eaLnBrk="1" hangingPunct="1"/>
            <a:r>
              <a:rPr lang="en-US" dirty="0" smtClean="0"/>
              <a:t>Critical: causes severe injury or major system damage</a:t>
            </a:r>
          </a:p>
          <a:p>
            <a:pPr eaLnBrk="1" hangingPunct="1"/>
            <a:r>
              <a:rPr lang="en-US" dirty="0" smtClean="0"/>
              <a:t>Marginal: causes minor injury or minor system damage</a:t>
            </a:r>
          </a:p>
          <a:p>
            <a:pPr eaLnBrk="1" hangingPunct="1"/>
            <a:r>
              <a:rPr lang="en-US" dirty="0" smtClean="0"/>
              <a:t>Minor: causes no injury or system damage</a:t>
            </a:r>
          </a:p>
        </p:txBody>
      </p:sp>
    </p:spTree>
    <p:extLst>
      <p:ext uri="{BB962C8B-B14F-4D97-AF65-F5344CB8AC3E}">
        <p14:creationId xmlns:p14="http://schemas.microsoft.com/office/powerpoint/2010/main" val="754291516"/>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normAutofit fontScale="90000"/>
          </a:bodyPr>
          <a:lstStyle/>
          <a:p>
            <a:pPr eaLnBrk="1" hangingPunct="1"/>
            <a:r>
              <a:rPr lang="en-US" dirty="0" smtClean="0"/>
              <a:t>Testing Issues</a:t>
            </a:r>
            <a:br>
              <a:rPr lang="en-US" dirty="0" smtClean="0"/>
            </a:br>
            <a:r>
              <a:rPr lang="en-US" sz="2800" dirty="0" smtClean="0"/>
              <a:t>Who Performs the Test?</a:t>
            </a:r>
            <a:endParaRPr lang="en-US" sz="2400" dirty="0" smtClean="0"/>
          </a:p>
        </p:txBody>
      </p:sp>
      <p:sp>
        <p:nvSpPr>
          <p:cNvPr id="14339" name="Rectangle 3"/>
          <p:cNvSpPr>
            <a:spLocks noGrp="1" noChangeArrowheads="1"/>
          </p:cNvSpPr>
          <p:nvPr>
            <p:ph idx="1"/>
          </p:nvPr>
        </p:nvSpPr>
        <p:spPr/>
        <p:txBody>
          <a:bodyPr/>
          <a:lstStyle/>
          <a:p>
            <a:pPr eaLnBrk="1" hangingPunct="1"/>
            <a:r>
              <a:rPr lang="en-US" dirty="0" smtClean="0"/>
              <a:t>Independent test team</a:t>
            </a:r>
          </a:p>
          <a:p>
            <a:pPr lvl="1" eaLnBrk="1" hangingPunct="1"/>
            <a:r>
              <a:rPr lang="en-US" dirty="0" smtClean="0"/>
              <a:t>avoid conflict </a:t>
            </a:r>
          </a:p>
          <a:p>
            <a:pPr lvl="2"/>
            <a:r>
              <a:rPr lang="en-US" dirty="0" smtClean="0"/>
              <a:t>personal responsibility vs need to discover faults</a:t>
            </a:r>
          </a:p>
          <a:p>
            <a:pPr lvl="1" eaLnBrk="1" hangingPunct="1"/>
            <a:r>
              <a:rPr lang="en-US" dirty="0" smtClean="0"/>
              <a:t>improve objectivity</a:t>
            </a:r>
          </a:p>
          <a:p>
            <a:pPr lvl="1" eaLnBrk="1" hangingPunct="1"/>
            <a:r>
              <a:rPr lang="en-US" dirty="0" smtClean="0"/>
              <a:t>allow testing and coding concurrently</a:t>
            </a:r>
          </a:p>
          <a:p>
            <a:pPr lvl="1" eaLnBrk="1" hangingPunct="1"/>
            <a:endParaRPr lang="en-US" dirty="0" smtClean="0"/>
          </a:p>
          <a:p>
            <a:pPr lvl="1" eaLnBrk="1" hangingPunct="1"/>
            <a:endParaRPr lang="en-US" dirty="0" smtClean="0"/>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fontScale="90000"/>
          </a:bodyPr>
          <a:lstStyle/>
          <a:p>
            <a:pPr eaLnBrk="1" hangingPunct="1"/>
            <a:r>
              <a:rPr lang="en-US" dirty="0" smtClean="0"/>
              <a:t>Testing Issues</a:t>
            </a:r>
            <a:br>
              <a:rPr lang="en-US" dirty="0" smtClean="0"/>
            </a:br>
            <a:r>
              <a:rPr lang="en-US" sz="2800" dirty="0" smtClean="0"/>
              <a:t>Views of the Test Objects</a:t>
            </a:r>
          </a:p>
        </p:txBody>
      </p:sp>
      <p:sp>
        <p:nvSpPr>
          <p:cNvPr id="15363" name="Rectangle 3"/>
          <p:cNvSpPr>
            <a:spLocks noGrp="1" noChangeArrowheads="1"/>
          </p:cNvSpPr>
          <p:nvPr>
            <p:ph idx="1"/>
          </p:nvPr>
        </p:nvSpPr>
        <p:spPr/>
        <p:txBody>
          <a:bodyPr/>
          <a:lstStyle/>
          <a:p>
            <a:pPr eaLnBrk="1" hangingPunct="1"/>
            <a:r>
              <a:rPr lang="en-US" smtClean="0"/>
              <a:t>Closed box or black box: functionality of the test objects	</a:t>
            </a:r>
          </a:p>
          <a:p>
            <a:pPr lvl="1" eaLnBrk="1" hangingPunct="1"/>
            <a:r>
              <a:rPr lang="en-US" smtClean="0"/>
              <a:t>Equivalence Class, Boundary Value Analysis,  Scenario-based, Decision Table based, State Machine based…</a:t>
            </a:r>
          </a:p>
          <a:p>
            <a:pPr eaLnBrk="1" hangingPunct="1"/>
            <a:r>
              <a:rPr lang="en-US" smtClean="0"/>
              <a:t>Clear box or white box: structure of the test objects </a:t>
            </a:r>
          </a:p>
          <a:p>
            <a:pPr lvl="1" eaLnBrk="1" hangingPunct="1"/>
            <a:r>
              <a:rPr lang="en-US" smtClean="0"/>
              <a:t>Control Flow</a:t>
            </a:r>
          </a:p>
          <a:p>
            <a:pPr lvl="2" eaLnBrk="1" hangingPunct="1"/>
            <a:r>
              <a:rPr lang="en-US" smtClean="0"/>
              <a:t>Basis Path, Branch, Statement, Decision…</a:t>
            </a:r>
          </a:p>
          <a:p>
            <a:pPr lvl="1" eaLnBrk="1" hangingPunct="1"/>
            <a:r>
              <a:rPr lang="en-US" smtClean="0"/>
              <a:t>Data Flow</a:t>
            </a:r>
          </a:p>
          <a:p>
            <a:pPr lvl="2" eaLnBrk="1" hangingPunct="1"/>
            <a:r>
              <a:rPr lang="en-US" smtClean="0"/>
              <a:t>Du Path, All-uses Path</a:t>
            </a: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 Cases for Triangle Problem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82581615"/>
              </p:ext>
            </p:extLst>
          </p:nvPr>
        </p:nvGraphicFramePr>
        <p:xfrm>
          <a:off x="592925" y="2376922"/>
          <a:ext cx="5468303" cy="1614491"/>
        </p:xfrm>
        <a:graphic>
          <a:graphicData uri="http://schemas.openxmlformats.org/drawingml/2006/table">
            <a:tbl>
              <a:tblPr firstRow="1" firstCol="1" bandRow="1">
                <a:tableStyleId>{5C22544A-7EE6-4342-B048-85BDC9FD1C3A}</a:tableStyleId>
              </a:tblPr>
              <a:tblGrid>
                <a:gridCol w="462280">
                  <a:extLst>
                    <a:ext uri="{9D8B030D-6E8A-4147-A177-3AD203B41FA5}">
                      <a16:colId xmlns:a16="http://schemas.microsoft.com/office/drawing/2014/main" xmlns="" val="20000"/>
                    </a:ext>
                  </a:extLst>
                </a:gridCol>
                <a:gridCol w="1008698">
                  <a:extLst>
                    <a:ext uri="{9D8B030D-6E8A-4147-A177-3AD203B41FA5}">
                      <a16:colId xmlns:a16="http://schemas.microsoft.com/office/drawing/2014/main" xmlns="" val="20001"/>
                    </a:ext>
                  </a:extLst>
                </a:gridCol>
                <a:gridCol w="462280">
                  <a:extLst>
                    <a:ext uri="{9D8B030D-6E8A-4147-A177-3AD203B41FA5}">
                      <a16:colId xmlns:a16="http://schemas.microsoft.com/office/drawing/2014/main" xmlns="" val="20002"/>
                    </a:ext>
                  </a:extLst>
                </a:gridCol>
                <a:gridCol w="462280">
                  <a:extLst>
                    <a:ext uri="{9D8B030D-6E8A-4147-A177-3AD203B41FA5}">
                      <a16:colId xmlns:a16="http://schemas.microsoft.com/office/drawing/2014/main" xmlns="" val="20003"/>
                    </a:ext>
                  </a:extLst>
                </a:gridCol>
                <a:gridCol w="462280">
                  <a:extLst>
                    <a:ext uri="{9D8B030D-6E8A-4147-A177-3AD203B41FA5}">
                      <a16:colId xmlns:a16="http://schemas.microsoft.com/office/drawing/2014/main" xmlns="" val="20004"/>
                    </a:ext>
                  </a:extLst>
                </a:gridCol>
                <a:gridCol w="2610485">
                  <a:extLst>
                    <a:ext uri="{9D8B030D-6E8A-4147-A177-3AD203B41FA5}">
                      <a16:colId xmlns:a16="http://schemas.microsoft.com/office/drawing/2014/main" xmlns="" val="20005"/>
                    </a:ext>
                  </a:extLst>
                </a:gridCol>
              </a:tblGrid>
              <a:tr h="0">
                <a:tc>
                  <a:txBody>
                    <a:bodyPr/>
                    <a:lstStyle/>
                    <a:p>
                      <a:pPr marL="0" marR="0">
                        <a:lnSpc>
                          <a:spcPct val="107000"/>
                        </a:lnSpc>
                        <a:spcBef>
                          <a:spcPts val="0"/>
                        </a:spcBef>
                        <a:spcAft>
                          <a:spcPts val="0"/>
                        </a:spcAft>
                      </a:pPr>
                      <a:r>
                        <a:rPr lang="en-US" sz="1100">
                          <a:effectLst/>
                        </a:rPr>
                        <a:t>TC 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What to test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0"/>
                  </a:ext>
                </a:extLst>
              </a:tr>
              <a:tr h="0">
                <a:tc>
                  <a:txBody>
                    <a:bodyPr/>
                    <a:lstStyle/>
                    <a:p>
                      <a:pPr marL="0" marR="0">
                        <a:lnSpc>
                          <a:spcPct val="107000"/>
                        </a:lnSpc>
                        <a:spcBef>
                          <a:spcPts val="0"/>
                        </a:spcBef>
                        <a:spcAft>
                          <a:spcPts val="0"/>
                        </a:spcAft>
                      </a:pPr>
                      <a:r>
                        <a:rPr lang="en-US" sz="11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EC1 of 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Value of A not in valid range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1"/>
                  </a:ext>
                </a:extLst>
              </a:tr>
              <a:tr h="0">
                <a:tc>
                  <a:txBody>
                    <a:bodyPr/>
                    <a:lstStyle/>
                    <a:p>
                      <a:pPr marL="0" marR="0">
                        <a:lnSpc>
                          <a:spcPct val="107000"/>
                        </a:lnSpc>
                        <a:spcBef>
                          <a:spcPts val="0"/>
                        </a:spcBef>
                        <a:spcAft>
                          <a:spcPts val="0"/>
                        </a:spcAft>
                      </a:pPr>
                      <a:r>
                        <a:rPr lang="en-US" sz="11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EC1 of 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Value of B not in valid range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2"/>
                  </a:ext>
                </a:extLst>
              </a:tr>
              <a:tr h="0">
                <a:tc>
                  <a:txBody>
                    <a:bodyPr/>
                    <a:lstStyle/>
                    <a:p>
                      <a:pPr marL="0" marR="0">
                        <a:lnSpc>
                          <a:spcPct val="107000"/>
                        </a:lnSpc>
                        <a:spcBef>
                          <a:spcPts val="0"/>
                        </a:spcBef>
                        <a:spcAft>
                          <a:spcPts val="0"/>
                        </a:spcAft>
                      </a:pPr>
                      <a:r>
                        <a:rPr lang="en-US" sz="11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EC1 of 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Value of C not in valid range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3"/>
                  </a:ext>
                </a:extLst>
              </a:tr>
              <a:tr h="0">
                <a:tc>
                  <a:txBody>
                    <a:bodyPr/>
                    <a:lstStyle/>
                    <a:p>
                      <a:pPr marL="0" marR="0">
                        <a:lnSpc>
                          <a:spcPct val="107000"/>
                        </a:lnSpc>
                        <a:spcBef>
                          <a:spcPts val="0"/>
                        </a:spcBef>
                        <a:spcAft>
                          <a:spcPts val="0"/>
                        </a:spcAft>
                      </a:pPr>
                      <a:r>
                        <a:rPr lang="en-US" sz="1100">
                          <a:effectLst/>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EC3 of 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-205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Value of A not in valid range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4"/>
                  </a:ext>
                </a:extLst>
              </a:tr>
              <a:tr h="0">
                <a:tc>
                  <a:txBody>
                    <a:bodyPr/>
                    <a:lstStyle/>
                    <a:p>
                      <a:pPr marL="0" marR="0">
                        <a:lnSpc>
                          <a:spcPct val="107000"/>
                        </a:lnSpc>
                        <a:spcBef>
                          <a:spcPts val="0"/>
                        </a:spcBef>
                        <a:spcAft>
                          <a:spcPts val="0"/>
                        </a:spcAft>
                      </a:pPr>
                      <a:r>
                        <a:rPr lang="en-US" sz="11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EC3 of 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-205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Value of B not in valid range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5"/>
                  </a:ext>
                </a:extLst>
              </a:tr>
              <a:tr h="0">
                <a:tc>
                  <a:txBody>
                    <a:bodyPr/>
                    <a:lstStyle/>
                    <a:p>
                      <a:pPr marL="0" marR="0">
                        <a:lnSpc>
                          <a:spcPct val="107000"/>
                        </a:lnSpc>
                        <a:spcBef>
                          <a:spcPts val="0"/>
                        </a:spcBef>
                        <a:spcAft>
                          <a:spcPts val="0"/>
                        </a:spcAft>
                      </a:pPr>
                      <a:r>
                        <a:rPr lang="en-US" sz="1100">
                          <a:effectLst/>
                        </a:rPr>
                        <a:t>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EC3 of 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-205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Value of C not in valid range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6"/>
                  </a:ext>
                </a:extLst>
              </a:tr>
              <a:tr h="0">
                <a:tc>
                  <a:txBody>
                    <a:bodyPr/>
                    <a:lstStyle/>
                    <a:p>
                      <a:pPr marL="0" marR="0">
                        <a:lnSpc>
                          <a:spcPct val="107000"/>
                        </a:lnSpc>
                        <a:spcBef>
                          <a:spcPts val="0"/>
                        </a:spcBef>
                        <a:spcAft>
                          <a:spcPts val="0"/>
                        </a:spcAft>
                      </a:pPr>
                      <a:r>
                        <a:rPr lang="en-US" sz="1100">
                          <a:effectLst/>
                        </a:rPr>
                        <a:t>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EC2 of A, B, 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Equilateral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7"/>
                  </a:ext>
                </a:extLst>
              </a:tr>
            </a:tbl>
          </a:graphicData>
        </a:graphic>
      </p:graphicFrame>
      <p:sp>
        <p:nvSpPr>
          <p:cNvPr id="5" name="Rectangle 1"/>
          <p:cNvSpPr>
            <a:spLocks noChangeArrowheads="1"/>
          </p:cNvSpPr>
          <p:nvPr/>
        </p:nvSpPr>
        <p:spPr bwMode="auto">
          <a:xfrm>
            <a:off x="592924" y="1942729"/>
            <a:ext cx="375047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Test cases based on input range</a:t>
            </a:r>
            <a:endParaRPr kumimoji="0" lang="en-US" altLang="en-US" sz="2800" b="1"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504215" y="3911138"/>
            <a:ext cx="7484275" cy="1200329"/>
          </a:xfrm>
          <a:prstGeom prst="rect">
            <a:avLst/>
          </a:prstGeom>
        </p:spPr>
        <p:txBody>
          <a:bodyPr wrap="square">
            <a:spAutoFit/>
          </a:bodyPr>
          <a:lstStyle/>
          <a:p>
            <a:r>
              <a:rPr lang="en-US" dirty="0">
                <a:solidFill>
                  <a:schemeClr val="tx2"/>
                </a:solidFill>
                <a:latin typeface="Calibri" panose="020F0502020204030204" pitchFamily="34" charset="0"/>
                <a:ea typeface="Calibri" panose="020F0502020204030204" pitchFamily="34" charset="0"/>
                <a:cs typeface="Times New Roman" panose="02020603050405020304" pitchFamily="18" charset="0"/>
              </a:rPr>
              <a:t>Note that we have made only one test case instead of three separate test cases to check ABC in valid range. This one test could be any test cases with any valid combination of A, B, </a:t>
            </a:r>
            <a:r>
              <a:rPr lang="en-US" dirty="0" smtClean="0">
                <a:solidFill>
                  <a:schemeClr val="tx2"/>
                </a:solidFill>
                <a:latin typeface="Calibri" panose="020F0502020204030204" pitchFamily="34" charset="0"/>
                <a:ea typeface="Calibri" panose="020F0502020204030204" pitchFamily="34" charset="0"/>
                <a:cs typeface="Times New Roman" panose="02020603050405020304" pitchFamily="18" charset="0"/>
              </a:rPr>
              <a:t>C; for example see any of the valid range based test cases.</a:t>
            </a:r>
            <a:endParaRPr lang="en-US" dirty="0">
              <a:solidFill>
                <a:schemeClr val="tx2"/>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2692326193"/>
              </p:ext>
            </p:extLst>
          </p:nvPr>
        </p:nvGraphicFramePr>
        <p:xfrm>
          <a:off x="2749550" y="5531340"/>
          <a:ext cx="5937250" cy="896940"/>
        </p:xfrm>
        <a:graphic>
          <a:graphicData uri="http://schemas.openxmlformats.org/drawingml/2006/table">
            <a:tbl>
              <a:tblPr firstRow="1" firstCol="1" bandRow="1">
                <a:tableStyleId>{5C22544A-7EE6-4342-B048-85BDC9FD1C3A}</a:tableStyleId>
              </a:tblPr>
              <a:tblGrid>
                <a:gridCol w="989330">
                  <a:extLst>
                    <a:ext uri="{9D8B030D-6E8A-4147-A177-3AD203B41FA5}">
                      <a16:colId xmlns:a16="http://schemas.microsoft.com/office/drawing/2014/main" xmlns="" val="20000"/>
                    </a:ext>
                  </a:extLst>
                </a:gridCol>
                <a:gridCol w="989330">
                  <a:extLst>
                    <a:ext uri="{9D8B030D-6E8A-4147-A177-3AD203B41FA5}">
                      <a16:colId xmlns:a16="http://schemas.microsoft.com/office/drawing/2014/main" xmlns="" val="20001"/>
                    </a:ext>
                  </a:extLst>
                </a:gridCol>
                <a:gridCol w="989330">
                  <a:extLst>
                    <a:ext uri="{9D8B030D-6E8A-4147-A177-3AD203B41FA5}">
                      <a16:colId xmlns:a16="http://schemas.microsoft.com/office/drawing/2014/main" xmlns="" val="20002"/>
                    </a:ext>
                  </a:extLst>
                </a:gridCol>
                <a:gridCol w="989330">
                  <a:extLst>
                    <a:ext uri="{9D8B030D-6E8A-4147-A177-3AD203B41FA5}">
                      <a16:colId xmlns:a16="http://schemas.microsoft.com/office/drawing/2014/main" xmlns="" val="20003"/>
                    </a:ext>
                  </a:extLst>
                </a:gridCol>
                <a:gridCol w="989965">
                  <a:extLst>
                    <a:ext uri="{9D8B030D-6E8A-4147-A177-3AD203B41FA5}">
                      <a16:colId xmlns:a16="http://schemas.microsoft.com/office/drawing/2014/main" xmlns="" val="20004"/>
                    </a:ext>
                  </a:extLst>
                </a:gridCol>
                <a:gridCol w="989965">
                  <a:extLst>
                    <a:ext uri="{9D8B030D-6E8A-4147-A177-3AD203B41FA5}">
                      <a16:colId xmlns:a16="http://schemas.microsoft.com/office/drawing/2014/main" xmlns="" val="20005"/>
                    </a:ext>
                  </a:extLst>
                </a:gridCol>
              </a:tblGrid>
              <a:tr h="0">
                <a:tc>
                  <a:txBody>
                    <a:bodyPr/>
                    <a:lstStyle/>
                    <a:p>
                      <a:pPr marL="0" marR="0">
                        <a:lnSpc>
                          <a:spcPct val="107000"/>
                        </a:lnSpc>
                        <a:spcBef>
                          <a:spcPts val="0"/>
                        </a:spcBef>
                        <a:spcAft>
                          <a:spcPts val="0"/>
                        </a:spcAft>
                      </a:pPr>
                      <a:r>
                        <a:rPr lang="en-US" sz="1100">
                          <a:effectLst/>
                        </a:rPr>
                        <a:t>TC 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What to test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0"/>
                  </a:ext>
                </a:extLst>
              </a:tr>
              <a:tr h="0">
                <a:tc>
                  <a:txBody>
                    <a:bodyPr/>
                    <a:lstStyle/>
                    <a:p>
                      <a:pPr marL="0" marR="0">
                        <a:lnSpc>
                          <a:spcPct val="107000"/>
                        </a:lnSpc>
                        <a:spcBef>
                          <a:spcPts val="0"/>
                        </a:spcBef>
                        <a:spcAft>
                          <a:spcPts val="0"/>
                        </a:spcAft>
                      </a:pPr>
                      <a:r>
                        <a:rPr lang="en-US" sz="11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EC 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Equilateral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1"/>
                  </a:ext>
                </a:extLst>
              </a:tr>
              <a:tr h="0">
                <a:tc>
                  <a:txBody>
                    <a:bodyPr/>
                    <a:lstStyle/>
                    <a:p>
                      <a:pPr marL="0" marR="0">
                        <a:lnSpc>
                          <a:spcPct val="107000"/>
                        </a:lnSpc>
                        <a:spcBef>
                          <a:spcPts val="0"/>
                        </a:spcBef>
                        <a:spcAft>
                          <a:spcPts val="0"/>
                        </a:spcAft>
                      </a:pPr>
                      <a:r>
                        <a:rPr lang="en-US" sz="11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EC 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Isosceles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2"/>
                  </a:ext>
                </a:extLst>
              </a:tr>
              <a:tr h="0">
                <a:tc>
                  <a:txBody>
                    <a:bodyPr/>
                    <a:lstStyle/>
                    <a:p>
                      <a:pPr marL="0" marR="0">
                        <a:lnSpc>
                          <a:spcPct val="107000"/>
                        </a:lnSpc>
                        <a:spcBef>
                          <a:spcPts val="0"/>
                        </a:spcBef>
                        <a:spcAft>
                          <a:spcPts val="0"/>
                        </a:spcAft>
                      </a:pPr>
                      <a:r>
                        <a:rPr lang="en-US" sz="11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EC 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Scalene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3"/>
                  </a:ext>
                </a:extLst>
              </a:tr>
              <a:tr h="0">
                <a:tc>
                  <a:txBody>
                    <a:bodyPr/>
                    <a:lstStyle/>
                    <a:p>
                      <a:pPr marL="0" marR="0">
                        <a:lnSpc>
                          <a:spcPct val="107000"/>
                        </a:lnSpc>
                        <a:spcBef>
                          <a:spcPts val="0"/>
                        </a:spcBef>
                        <a:spcAft>
                          <a:spcPts val="0"/>
                        </a:spcAft>
                      </a:pPr>
                      <a:r>
                        <a:rPr lang="en-US" sz="1100">
                          <a:effectLst/>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EC 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Not a triangle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004"/>
                  </a:ext>
                </a:extLst>
              </a:tr>
            </a:tbl>
          </a:graphicData>
        </a:graphic>
      </p:graphicFrame>
      <p:sp>
        <p:nvSpPr>
          <p:cNvPr id="8" name="Rectangle 7"/>
          <p:cNvSpPr/>
          <p:nvPr/>
        </p:nvSpPr>
        <p:spPr>
          <a:xfrm>
            <a:off x="2749550" y="4988556"/>
            <a:ext cx="54800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Test cases based on </a:t>
            </a:r>
            <a:r>
              <a:rPr lang="en-US" sz="1600" b="1" dirty="0" smtClean="0">
                <a:solidFill>
                  <a:schemeClr val="tx1"/>
                </a:solidFill>
                <a:latin typeface="Calibri" panose="020F0502020204030204" pitchFamily="34" charset="0"/>
                <a:ea typeface="Calibri" panose="020F0502020204030204" pitchFamily="34" charset="0"/>
                <a:cs typeface="Times New Roman" panose="02020603050405020304" pitchFamily="18" charset="0"/>
              </a:rPr>
              <a:t>equivalence classes within valid range</a:t>
            </a:r>
            <a:endParaRPr lang="en-US" sz="16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070081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normAutofit fontScale="90000"/>
          </a:bodyPr>
          <a:lstStyle/>
          <a:p>
            <a:r>
              <a:rPr lang="en-US" smtClean="0"/>
              <a:t>Whitebox Testing</a:t>
            </a:r>
            <a:br>
              <a:rPr lang="en-US" smtClean="0"/>
            </a:br>
            <a:r>
              <a:rPr lang="en-US" smtClean="0"/>
              <a:t>Control Flow Graph</a:t>
            </a:r>
          </a:p>
        </p:txBody>
      </p:sp>
      <p:graphicFrame>
        <p:nvGraphicFramePr>
          <p:cNvPr id="4" name="Content Placeholder 3"/>
          <p:cNvGraphicFramePr>
            <a:graphicFrameLocks noGrp="1"/>
          </p:cNvGraphicFramePr>
          <p:nvPr>
            <p:ph idx="1"/>
          </p:nvPr>
        </p:nvGraphicFramePr>
        <p:xfrm>
          <a:off x="1525588" y="3684588"/>
          <a:ext cx="6080760" cy="192786"/>
        </p:xfrm>
        <a:graphic>
          <a:graphicData uri="http://schemas.openxmlformats.org/drawingml/2006/table">
            <a:tbl>
              <a:tblPr/>
              <a:tblGrid>
                <a:gridCol w="3040380">
                  <a:extLst>
                    <a:ext uri="{9D8B030D-6E8A-4147-A177-3AD203B41FA5}">
                      <a16:colId xmlns:a16="http://schemas.microsoft.com/office/drawing/2014/main" xmlns="" val="20000"/>
                    </a:ext>
                  </a:extLst>
                </a:gridCol>
                <a:gridCol w="3040380">
                  <a:extLst>
                    <a:ext uri="{9D8B030D-6E8A-4147-A177-3AD203B41FA5}">
                      <a16:colId xmlns:a16="http://schemas.microsoft.com/office/drawing/2014/main" xmlns="" val="20001"/>
                    </a:ext>
                  </a:extLst>
                </a:gridCol>
              </a:tblGrid>
              <a:tr h="0">
                <a:tc>
                  <a:txBody>
                    <a:bodyPr/>
                    <a:lstStyle/>
                    <a:p>
                      <a:pPr marL="0" marR="0">
                        <a:lnSpc>
                          <a:spcPct val="115000"/>
                        </a:lnSpc>
                        <a:spcBef>
                          <a:spcPts val="0"/>
                        </a:spcBef>
                        <a:spcAft>
                          <a:spcPts val="0"/>
                        </a:spcAft>
                      </a:pPr>
                      <a:endParaRPr lang="en-US" sz="1100">
                        <a:latin typeface="Calibri"/>
                        <a:ea typeface="Calibri"/>
                        <a:cs typeface="Arial"/>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pPr>
                      <a:endParaRPr lang="en-US" sz="1100" dirty="0">
                        <a:latin typeface="Calibri"/>
                        <a:ea typeface="Calibri"/>
                        <a:cs typeface="Arial"/>
                      </a:endParaRPr>
                    </a:p>
                  </a:txBody>
                  <a:tcPr marL="68580" marR="68580" marT="0" marB="0">
                    <a:lnL>
                      <a:noFill/>
                    </a:lnL>
                    <a:lnR>
                      <a:noFill/>
                    </a:lnR>
                    <a:lnT>
                      <a:noFill/>
                    </a:lnT>
                    <a:lnB>
                      <a:noFill/>
                    </a:lnB>
                  </a:tcPr>
                </a:tc>
                <a:extLst>
                  <a:ext uri="{0D108BD9-81ED-4DB2-BD59-A6C34878D82A}">
                    <a16:rowId xmlns:a16="http://schemas.microsoft.com/office/drawing/2014/main" xmlns="" val="10000"/>
                  </a:ext>
                </a:extLst>
              </a:tr>
            </a:tbl>
          </a:graphicData>
        </a:graphic>
      </p:graphicFrame>
      <p:pic>
        <p:nvPicPr>
          <p:cNvPr id="22534" name="Picture 1"/>
          <p:cNvPicPr>
            <a:picLocks noChangeAspect="1" noChangeArrowheads="1"/>
          </p:cNvPicPr>
          <p:nvPr/>
        </p:nvPicPr>
        <p:blipFill>
          <a:blip r:embed="rId2" cstate="print"/>
          <a:srcRect/>
          <a:stretch>
            <a:fillRect/>
          </a:stretch>
        </p:blipFill>
        <p:spPr bwMode="auto">
          <a:xfrm>
            <a:off x="1524000" y="2057400"/>
            <a:ext cx="2790825" cy="2647950"/>
          </a:xfrm>
          <a:prstGeom prst="rect">
            <a:avLst/>
          </a:prstGeom>
          <a:noFill/>
          <a:ln w="9525">
            <a:noFill/>
            <a:miter lim="800000"/>
            <a:headEnd/>
            <a:tailEnd/>
          </a:ln>
        </p:spPr>
      </p:pic>
      <p:pic>
        <p:nvPicPr>
          <p:cNvPr id="22535" name="Picture 2"/>
          <p:cNvPicPr>
            <a:picLocks noChangeAspect="1" noChangeArrowheads="1"/>
          </p:cNvPicPr>
          <p:nvPr/>
        </p:nvPicPr>
        <p:blipFill>
          <a:blip r:embed="rId3" cstate="print"/>
          <a:srcRect/>
          <a:stretch>
            <a:fillRect/>
          </a:stretch>
        </p:blipFill>
        <p:spPr bwMode="auto">
          <a:xfrm>
            <a:off x="5715000" y="1981200"/>
            <a:ext cx="1838325" cy="3067050"/>
          </a:xfrm>
          <a:prstGeom prst="rect">
            <a:avLst/>
          </a:prstGeom>
          <a:noFill/>
          <a:ln w="9525">
            <a:noFill/>
            <a:miter lim="800000"/>
            <a:headEnd/>
            <a:tailEnd/>
          </a:ln>
        </p:spPr>
      </p:pic>
      <p:sp>
        <p:nvSpPr>
          <p:cNvPr id="22536" name="Rectangle 3"/>
          <p:cNvSpPr>
            <a:spLocks noChangeArrowheads="1"/>
          </p:cNvSpPr>
          <p:nvPr/>
        </p:nvSpPr>
        <p:spPr bwMode="auto">
          <a:xfrm>
            <a:off x="2667000" y="5194300"/>
            <a:ext cx="4746625" cy="584200"/>
          </a:xfrm>
          <a:prstGeom prst="rect">
            <a:avLst/>
          </a:prstGeom>
          <a:noFill/>
          <a:ln w="9525">
            <a:noFill/>
            <a:miter lim="800000"/>
            <a:headEnd/>
            <a:tailEnd/>
          </a:ln>
        </p:spPr>
        <p:txBody>
          <a:bodyPr wrap="none" anchor="ctr">
            <a:spAutoFit/>
          </a:bodyPr>
          <a:lstStyle/>
          <a:p>
            <a:r>
              <a:rPr lang="en-US" b="1">
                <a:solidFill>
                  <a:schemeClr val="tx1"/>
                </a:solidFill>
                <a:latin typeface="Calibri" pitchFamily="34" charset="0"/>
                <a:ea typeface="Calibri" pitchFamily="34" charset="0"/>
                <a:cs typeface="Calibri" pitchFamily="34" charset="0"/>
              </a:rPr>
              <a:t>Cyclomatic Complexity = E – N + 2 = 9 – 9 + 2 = 2</a:t>
            </a:r>
            <a:endParaRPr lang="en-US" sz="3200">
              <a:solidFill>
                <a:schemeClr val="tx1"/>
              </a:solidFill>
            </a:endParaRPr>
          </a:p>
        </p:txBody>
      </p:sp>
      <p:sp>
        <p:nvSpPr>
          <p:cNvPr id="2" name="Rectangle 1"/>
          <p:cNvSpPr/>
          <p:nvPr/>
        </p:nvSpPr>
        <p:spPr>
          <a:xfrm>
            <a:off x="381000" y="5429071"/>
            <a:ext cx="4572000" cy="1200329"/>
          </a:xfrm>
          <a:prstGeom prst="rect">
            <a:avLst/>
          </a:prstGeom>
        </p:spPr>
        <p:txBody>
          <a:bodyPr>
            <a:spAutoFit/>
          </a:bodyPr>
          <a:lstStyle/>
          <a:p>
            <a:pPr eaLnBrk="1" hangingPunct="1"/>
            <a:r>
              <a:rPr lang="en-US">
                <a:solidFill>
                  <a:schemeClr val="tx1"/>
                </a:solidFill>
              </a:rPr>
              <a:t>Statement testing</a:t>
            </a:r>
          </a:p>
          <a:p>
            <a:pPr eaLnBrk="1" hangingPunct="1"/>
            <a:r>
              <a:rPr lang="en-US">
                <a:solidFill>
                  <a:schemeClr val="tx1"/>
                </a:solidFill>
              </a:rPr>
              <a:t>Branch testing</a:t>
            </a:r>
          </a:p>
          <a:p>
            <a:pPr eaLnBrk="1" hangingPunct="1"/>
            <a:r>
              <a:rPr lang="en-US">
                <a:solidFill>
                  <a:schemeClr val="tx1"/>
                </a:solidFill>
              </a:rPr>
              <a:t>Path testing</a:t>
            </a:r>
          </a:p>
          <a:p>
            <a:pPr eaLnBrk="1" hangingPunct="1"/>
            <a:r>
              <a:rPr lang="en-US">
                <a:solidFill>
                  <a:schemeClr val="tx1"/>
                </a:solidFill>
              </a:rPr>
              <a:t>…</a:t>
            </a:r>
            <a:endParaRPr lang="en-US" dirty="0">
              <a:solidFill>
                <a:schemeClr val="tx1"/>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Boundary Value Analysis</a:t>
            </a:r>
            <a:endParaRPr lang="en-US" dirty="0"/>
          </a:p>
        </p:txBody>
      </p:sp>
      <p:pic>
        <p:nvPicPr>
          <p:cNvPr id="4" name="object 3"/>
          <p:cNvPicPr/>
          <p:nvPr/>
        </p:nvPicPr>
        <p:blipFill>
          <a:blip r:embed="rId2" cstate="print"/>
          <a:stretch>
            <a:fillRect/>
          </a:stretch>
        </p:blipFill>
        <p:spPr>
          <a:xfrm>
            <a:off x="870627" y="2438400"/>
            <a:ext cx="7402746" cy="1766327"/>
          </a:xfrm>
          <a:prstGeom prst="rect">
            <a:avLst/>
          </a:prstGeom>
        </p:spPr>
      </p:pic>
      <p:pic>
        <p:nvPicPr>
          <p:cNvPr id="5" name="object 4"/>
          <p:cNvPicPr/>
          <p:nvPr/>
        </p:nvPicPr>
        <p:blipFill>
          <a:blip r:embed="rId3" cstate="print"/>
          <a:stretch>
            <a:fillRect/>
          </a:stretch>
        </p:blipFill>
        <p:spPr>
          <a:xfrm>
            <a:off x="1905000" y="4495800"/>
            <a:ext cx="5104936" cy="1328153"/>
          </a:xfrm>
          <a:prstGeom prst="rect">
            <a:avLst/>
          </a:prstGeom>
        </p:spPr>
      </p:pic>
    </p:spTree>
    <p:extLst>
      <p:ext uri="{BB962C8B-B14F-4D97-AF65-F5344CB8AC3E}">
        <p14:creationId xmlns:p14="http://schemas.microsoft.com/office/powerpoint/2010/main" val="24572195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6" name="Rectangle 3"/>
          <p:cNvSpPr>
            <a:spLocks noGrp="1" noChangeArrowheads="1"/>
          </p:cNvSpPr>
          <p:nvPr>
            <p:ph idx="1"/>
          </p:nvPr>
        </p:nvSpPr>
        <p:spPr>
          <a:xfrm>
            <a:off x="457200" y="1935480"/>
            <a:ext cx="8229600" cy="4389120"/>
          </a:xfrm>
        </p:spPr>
        <p:txBody>
          <a:bodyPr>
            <a:normAutofit/>
          </a:bodyPr>
          <a:lstStyle/>
          <a:p>
            <a:r>
              <a:rPr lang="en-US" sz="2800" dirty="0">
                <a:solidFill>
                  <a:srgbClr val="404040"/>
                </a:solidFill>
                <a:latin typeface="Calibri"/>
                <a:cs typeface="Calibri"/>
              </a:rPr>
              <a:t>An</a:t>
            </a:r>
            <a:r>
              <a:rPr lang="en-US" sz="2800" spc="-5" dirty="0">
                <a:solidFill>
                  <a:srgbClr val="404040"/>
                </a:solidFill>
                <a:latin typeface="Calibri"/>
                <a:cs typeface="Calibri"/>
              </a:rPr>
              <a:t> Address</a:t>
            </a:r>
            <a:r>
              <a:rPr lang="en-US" sz="2800" spc="5" dirty="0">
                <a:solidFill>
                  <a:srgbClr val="404040"/>
                </a:solidFill>
                <a:latin typeface="Calibri"/>
                <a:cs typeface="Calibri"/>
              </a:rPr>
              <a:t> </a:t>
            </a:r>
            <a:r>
              <a:rPr lang="en-US" sz="2800" spc="-15" dirty="0">
                <a:solidFill>
                  <a:srgbClr val="404040"/>
                </a:solidFill>
                <a:latin typeface="Calibri"/>
                <a:cs typeface="Calibri"/>
              </a:rPr>
              <a:t>text</a:t>
            </a:r>
            <a:r>
              <a:rPr lang="en-US" sz="2800" spc="10" dirty="0">
                <a:solidFill>
                  <a:srgbClr val="404040"/>
                </a:solidFill>
                <a:latin typeface="Calibri"/>
                <a:cs typeface="Calibri"/>
              </a:rPr>
              <a:t> </a:t>
            </a:r>
            <a:r>
              <a:rPr lang="en-US" sz="2800" spc="-10" dirty="0">
                <a:solidFill>
                  <a:srgbClr val="404040"/>
                </a:solidFill>
                <a:latin typeface="Calibri"/>
                <a:cs typeface="Calibri"/>
              </a:rPr>
              <a:t>box</a:t>
            </a:r>
            <a:r>
              <a:rPr lang="en-US" sz="2800" spc="-20" dirty="0">
                <a:solidFill>
                  <a:srgbClr val="404040"/>
                </a:solidFill>
                <a:latin typeface="Calibri"/>
                <a:cs typeface="Calibri"/>
              </a:rPr>
              <a:t> </a:t>
            </a:r>
            <a:r>
              <a:rPr lang="en-US" sz="2800" dirty="0">
                <a:solidFill>
                  <a:srgbClr val="404040"/>
                </a:solidFill>
                <a:latin typeface="Calibri"/>
                <a:cs typeface="Calibri"/>
              </a:rPr>
              <a:t>which</a:t>
            </a:r>
            <a:r>
              <a:rPr lang="en-US" sz="2800" spc="5" dirty="0">
                <a:solidFill>
                  <a:srgbClr val="404040"/>
                </a:solidFill>
                <a:latin typeface="Calibri"/>
                <a:cs typeface="Calibri"/>
              </a:rPr>
              <a:t> </a:t>
            </a:r>
            <a:r>
              <a:rPr lang="en-US" sz="2800" spc="-5" dirty="0">
                <a:solidFill>
                  <a:srgbClr val="404040"/>
                </a:solidFill>
                <a:latin typeface="Calibri"/>
                <a:cs typeface="Calibri"/>
              </a:rPr>
              <a:t>allows</a:t>
            </a:r>
            <a:r>
              <a:rPr lang="en-US" sz="2800" spc="10" dirty="0">
                <a:solidFill>
                  <a:srgbClr val="404040"/>
                </a:solidFill>
                <a:latin typeface="Calibri"/>
                <a:cs typeface="Calibri"/>
              </a:rPr>
              <a:t> </a:t>
            </a:r>
            <a:r>
              <a:rPr lang="en-US" sz="2800" spc="-5" dirty="0">
                <a:solidFill>
                  <a:srgbClr val="404040"/>
                </a:solidFill>
                <a:latin typeface="Calibri"/>
                <a:cs typeface="Calibri"/>
              </a:rPr>
              <a:t>maximum</a:t>
            </a:r>
            <a:r>
              <a:rPr lang="en-US" sz="2800" spc="20" dirty="0">
                <a:solidFill>
                  <a:srgbClr val="404040"/>
                </a:solidFill>
                <a:latin typeface="Calibri"/>
                <a:cs typeface="Calibri"/>
              </a:rPr>
              <a:t> </a:t>
            </a:r>
            <a:r>
              <a:rPr lang="en-US" sz="2800" dirty="0">
                <a:solidFill>
                  <a:srgbClr val="404040"/>
                </a:solidFill>
                <a:latin typeface="Calibri"/>
                <a:cs typeface="Calibri"/>
              </a:rPr>
              <a:t>500</a:t>
            </a:r>
            <a:r>
              <a:rPr lang="en-US" sz="2800" spc="-30" dirty="0">
                <a:solidFill>
                  <a:srgbClr val="404040"/>
                </a:solidFill>
                <a:latin typeface="Calibri"/>
                <a:cs typeface="Calibri"/>
              </a:rPr>
              <a:t> </a:t>
            </a:r>
            <a:r>
              <a:rPr lang="en-US" sz="2800" spc="-10" dirty="0">
                <a:solidFill>
                  <a:srgbClr val="404040"/>
                </a:solidFill>
                <a:latin typeface="Calibri"/>
                <a:cs typeface="Calibri"/>
              </a:rPr>
              <a:t>characters.</a:t>
            </a:r>
            <a:r>
              <a:rPr lang="en-US" sz="2800" spc="15" dirty="0">
                <a:solidFill>
                  <a:srgbClr val="404040"/>
                </a:solidFill>
                <a:latin typeface="Calibri"/>
                <a:cs typeface="Calibri"/>
              </a:rPr>
              <a:t> </a:t>
            </a:r>
            <a:r>
              <a:rPr lang="en-US" sz="2800" spc="-10" dirty="0">
                <a:solidFill>
                  <a:srgbClr val="404040"/>
                </a:solidFill>
                <a:latin typeface="Calibri"/>
                <a:cs typeface="Calibri"/>
              </a:rPr>
              <a:t>So,</a:t>
            </a:r>
            <a:r>
              <a:rPr lang="en-US" sz="2800" spc="5" dirty="0">
                <a:solidFill>
                  <a:srgbClr val="404040"/>
                </a:solidFill>
                <a:latin typeface="Calibri"/>
                <a:cs typeface="Calibri"/>
              </a:rPr>
              <a:t> </a:t>
            </a:r>
            <a:r>
              <a:rPr lang="en-US" sz="2800" spc="-5" dirty="0">
                <a:solidFill>
                  <a:srgbClr val="404040"/>
                </a:solidFill>
                <a:latin typeface="Calibri"/>
                <a:cs typeface="Calibri"/>
              </a:rPr>
              <a:t>writing </a:t>
            </a:r>
            <a:r>
              <a:rPr lang="en-US" sz="2800" spc="-10" dirty="0">
                <a:solidFill>
                  <a:srgbClr val="404040"/>
                </a:solidFill>
                <a:latin typeface="Calibri"/>
                <a:cs typeface="Calibri"/>
              </a:rPr>
              <a:t>test</a:t>
            </a:r>
            <a:r>
              <a:rPr lang="en-US" sz="2800" spc="30" dirty="0">
                <a:solidFill>
                  <a:srgbClr val="404040"/>
                </a:solidFill>
                <a:latin typeface="Calibri"/>
                <a:cs typeface="Calibri"/>
              </a:rPr>
              <a:t> </a:t>
            </a:r>
            <a:r>
              <a:rPr lang="en-US" sz="2800" dirty="0">
                <a:solidFill>
                  <a:srgbClr val="404040"/>
                </a:solidFill>
                <a:latin typeface="Calibri"/>
                <a:cs typeface="Calibri"/>
              </a:rPr>
              <a:t>cases </a:t>
            </a:r>
            <a:r>
              <a:rPr lang="en-US" sz="2800" spc="-15" dirty="0">
                <a:solidFill>
                  <a:srgbClr val="404040"/>
                </a:solidFill>
                <a:latin typeface="Calibri"/>
                <a:cs typeface="Calibri"/>
              </a:rPr>
              <a:t>for</a:t>
            </a:r>
            <a:r>
              <a:rPr lang="en-US" sz="2800" spc="-5" dirty="0">
                <a:solidFill>
                  <a:srgbClr val="404040"/>
                </a:solidFill>
                <a:latin typeface="Calibri"/>
                <a:cs typeface="Calibri"/>
              </a:rPr>
              <a:t> </a:t>
            </a:r>
            <a:r>
              <a:rPr lang="en-US" sz="2800" dirty="0">
                <a:solidFill>
                  <a:srgbClr val="404040"/>
                </a:solidFill>
                <a:latin typeface="Calibri"/>
                <a:cs typeface="Calibri"/>
              </a:rPr>
              <a:t>each </a:t>
            </a:r>
            <a:r>
              <a:rPr lang="en-US" sz="2800" spc="-434" dirty="0">
                <a:solidFill>
                  <a:srgbClr val="404040"/>
                </a:solidFill>
                <a:latin typeface="Calibri"/>
                <a:cs typeface="Calibri"/>
              </a:rPr>
              <a:t> </a:t>
            </a:r>
            <a:r>
              <a:rPr lang="en-US" sz="2800" spc="-5" dirty="0">
                <a:solidFill>
                  <a:srgbClr val="404040"/>
                </a:solidFill>
                <a:latin typeface="Calibri"/>
                <a:cs typeface="Calibri"/>
              </a:rPr>
              <a:t>character</a:t>
            </a:r>
            <a:r>
              <a:rPr lang="en-US" sz="2800" dirty="0">
                <a:solidFill>
                  <a:srgbClr val="404040"/>
                </a:solidFill>
                <a:latin typeface="Calibri"/>
                <a:cs typeface="Calibri"/>
              </a:rPr>
              <a:t> once</a:t>
            </a:r>
            <a:r>
              <a:rPr lang="en-US" sz="2800" spc="-10" dirty="0">
                <a:solidFill>
                  <a:srgbClr val="404040"/>
                </a:solidFill>
                <a:latin typeface="Calibri"/>
                <a:cs typeface="Calibri"/>
              </a:rPr>
              <a:t> </a:t>
            </a:r>
            <a:r>
              <a:rPr lang="en-US" sz="2800" spc="-5" dirty="0">
                <a:solidFill>
                  <a:srgbClr val="404040"/>
                </a:solidFill>
                <a:latin typeface="Calibri"/>
                <a:cs typeface="Calibri"/>
              </a:rPr>
              <a:t>will</a:t>
            </a:r>
            <a:r>
              <a:rPr lang="en-US" sz="2800" spc="10" dirty="0">
                <a:solidFill>
                  <a:srgbClr val="404040"/>
                </a:solidFill>
                <a:latin typeface="Calibri"/>
                <a:cs typeface="Calibri"/>
              </a:rPr>
              <a:t> </a:t>
            </a:r>
            <a:r>
              <a:rPr lang="en-US" sz="2800" dirty="0">
                <a:solidFill>
                  <a:srgbClr val="404040"/>
                </a:solidFill>
                <a:latin typeface="Calibri"/>
                <a:cs typeface="Calibri"/>
              </a:rPr>
              <a:t>be</a:t>
            </a:r>
            <a:r>
              <a:rPr lang="en-US" sz="2800" spc="-10" dirty="0">
                <a:solidFill>
                  <a:srgbClr val="404040"/>
                </a:solidFill>
                <a:latin typeface="Calibri"/>
                <a:cs typeface="Calibri"/>
              </a:rPr>
              <a:t> </a:t>
            </a:r>
            <a:r>
              <a:rPr lang="en-US" sz="2800" spc="-5" dirty="0">
                <a:solidFill>
                  <a:srgbClr val="404040"/>
                </a:solidFill>
                <a:latin typeface="Calibri"/>
                <a:cs typeface="Calibri"/>
              </a:rPr>
              <a:t>very</a:t>
            </a:r>
            <a:r>
              <a:rPr lang="en-US" sz="2800" dirty="0">
                <a:solidFill>
                  <a:srgbClr val="404040"/>
                </a:solidFill>
                <a:latin typeface="Calibri"/>
                <a:cs typeface="Calibri"/>
              </a:rPr>
              <a:t> </a:t>
            </a:r>
            <a:r>
              <a:rPr lang="en-US" sz="2800" spc="-5" dirty="0">
                <a:solidFill>
                  <a:srgbClr val="404040"/>
                </a:solidFill>
                <a:latin typeface="Calibri"/>
                <a:cs typeface="Calibri"/>
              </a:rPr>
              <a:t>difficult</a:t>
            </a:r>
            <a:r>
              <a:rPr lang="en-US" sz="2800" spc="10" dirty="0">
                <a:solidFill>
                  <a:srgbClr val="404040"/>
                </a:solidFill>
                <a:latin typeface="Calibri"/>
                <a:cs typeface="Calibri"/>
              </a:rPr>
              <a:t> </a:t>
            </a:r>
            <a:r>
              <a:rPr lang="en-US" sz="2800" spc="-5" dirty="0">
                <a:solidFill>
                  <a:srgbClr val="404040"/>
                </a:solidFill>
                <a:latin typeface="Calibri"/>
                <a:cs typeface="Calibri"/>
              </a:rPr>
              <a:t>so</a:t>
            </a:r>
            <a:r>
              <a:rPr lang="en-US" sz="2800" dirty="0">
                <a:solidFill>
                  <a:srgbClr val="404040"/>
                </a:solidFill>
                <a:latin typeface="Calibri"/>
                <a:cs typeface="Calibri"/>
              </a:rPr>
              <a:t> </a:t>
            </a:r>
            <a:r>
              <a:rPr lang="en-US" sz="2800" spc="-5" dirty="0">
                <a:solidFill>
                  <a:srgbClr val="404040"/>
                </a:solidFill>
                <a:latin typeface="Calibri"/>
                <a:cs typeface="Calibri"/>
              </a:rPr>
              <a:t>that</a:t>
            </a:r>
            <a:r>
              <a:rPr lang="en-US" sz="2800" spc="5" dirty="0">
                <a:solidFill>
                  <a:srgbClr val="404040"/>
                </a:solidFill>
                <a:latin typeface="Calibri"/>
                <a:cs typeface="Calibri"/>
              </a:rPr>
              <a:t> </a:t>
            </a:r>
            <a:r>
              <a:rPr lang="en-US" sz="2800" spc="-5" dirty="0">
                <a:solidFill>
                  <a:srgbClr val="404040"/>
                </a:solidFill>
                <a:latin typeface="Calibri"/>
                <a:cs typeface="Calibri"/>
              </a:rPr>
              <a:t>will</a:t>
            </a:r>
            <a:r>
              <a:rPr lang="en-US" sz="2800" spc="5" dirty="0">
                <a:solidFill>
                  <a:srgbClr val="404040"/>
                </a:solidFill>
                <a:latin typeface="Calibri"/>
                <a:cs typeface="Calibri"/>
              </a:rPr>
              <a:t> </a:t>
            </a:r>
            <a:r>
              <a:rPr lang="en-US" sz="2800" spc="-5" dirty="0">
                <a:solidFill>
                  <a:srgbClr val="404040"/>
                </a:solidFill>
                <a:latin typeface="Calibri"/>
                <a:cs typeface="Calibri"/>
              </a:rPr>
              <a:t>choose</a:t>
            </a:r>
            <a:r>
              <a:rPr lang="en-US" sz="2800" dirty="0">
                <a:solidFill>
                  <a:srgbClr val="404040"/>
                </a:solidFill>
                <a:latin typeface="Calibri"/>
                <a:cs typeface="Calibri"/>
              </a:rPr>
              <a:t> boundary</a:t>
            </a:r>
            <a:r>
              <a:rPr lang="en-US" sz="2800" spc="-40" dirty="0">
                <a:solidFill>
                  <a:srgbClr val="404040"/>
                </a:solidFill>
                <a:latin typeface="Calibri"/>
                <a:cs typeface="Calibri"/>
              </a:rPr>
              <a:t> </a:t>
            </a:r>
            <a:r>
              <a:rPr lang="en-US" sz="2800" spc="-5" dirty="0">
                <a:solidFill>
                  <a:srgbClr val="404040"/>
                </a:solidFill>
                <a:latin typeface="Calibri"/>
                <a:cs typeface="Calibri"/>
              </a:rPr>
              <a:t>value</a:t>
            </a:r>
            <a:r>
              <a:rPr lang="en-US" sz="2800" spc="5" dirty="0">
                <a:solidFill>
                  <a:srgbClr val="404040"/>
                </a:solidFill>
                <a:latin typeface="Calibri"/>
                <a:cs typeface="Calibri"/>
              </a:rPr>
              <a:t> </a:t>
            </a:r>
            <a:r>
              <a:rPr lang="en-US" sz="2800" spc="-5" dirty="0">
                <a:solidFill>
                  <a:srgbClr val="404040"/>
                </a:solidFill>
                <a:latin typeface="Calibri"/>
                <a:cs typeface="Calibri"/>
              </a:rPr>
              <a:t>analysis</a:t>
            </a:r>
            <a:r>
              <a:rPr lang="en-US" sz="2800" spc="-5" dirty="0" smtClean="0">
                <a:solidFill>
                  <a:srgbClr val="404040"/>
                </a:solidFill>
                <a:latin typeface="Calibri"/>
                <a:cs typeface="Calibri"/>
              </a:rPr>
              <a:t>.</a:t>
            </a:r>
          </a:p>
        </p:txBody>
      </p:sp>
    </p:spTree>
    <p:extLst>
      <p:ext uri="{BB962C8B-B14F-4D97-AF65-F5344CB8AC3E}">
        <p14:creationId xmlns:p14="http://schemas.microsoft.com/office/powerpoint/2010/main" val="5582171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6" name="Rectangle 3"/>
          <p:cNvSpPr>
            <a:spLocks noGrp="1" noChangeArrowheads="1"/>
          </p:cNvSpPr>
          <p:nvPr>
            <p:ph idx="1"/>
          </p:nvPr>
        </p:nvSpPr>
        <p:spPr>
          <a:xfrm>
            <a:off x="457200" y="1935480"/>
            <a:ext cx="8229600" cy="4389120"/>
          </a:xfrm>
        </p:spPr>
        <p:txBody>
          <a:bodyPr>
            <a:normAutofit lnSpcReduction="10000"/>
          </a:bodyPr>
          <a:lstStyle/>
          <a:p>
            <a:r>
              <a:rPr lang="en-US" sz="2800" dirty="0">
                <a:solidFill>
                  <a:srgbClr val="404040"/>
                </a:solidFill>
                <a:latin typeface="Calibri"/>
                <a:cs typeface="Calibri"/>
              </a:rPr>
              <a:t>An</a:t>
            </a:r>
            <a:r>
              <a:rPr lang="en-US" sz="2800" spc="-5" dirty="0">
                <a:solidFill>
                  <a:srgbClr val="404040"/>
                </a:solidFill>
                <a:latin typeface="Calibri"/>
                <a:cs typeface="Calibri"/>
              </a:rPr>
              <a:t> Address</a:t>
            </a:r>
            <a:r>
              <a:rPr lang="en-US" sz="2800" spc="5" dirty="0">
                <a:solidFill>
                  <a:srgbClr val="404040"/>
                </a:solidFill>
                <a:latin typeface="Calibri"/>
                <a:cs typeface="Calibri"/>
              </a:rPr>
              <a:t> </a:t>
            </a:r>
            <a:r>
              <a:rPr lang="en-US" sz="2800" spc="-15" dirty="0">
                <a:solidFill>
                  <a:srgbClr val="404040"/>
                </a:solidFill>
                <a:latin typeface="Calibri"/>
                <a:cs typeface="Calibri"/>
              </a:rPr>
              <a:t>text</a:t>
            </a:r>
            <a:r>
              <a:rPr lang="en-US" sz="2800" spc="10" dirty="0">
                <a:solidFill>
                  <a:srgbClr val="404040"/>
                </a:solidFill>
                <a:latin typeface="Calibri"/>
                <a:cs typeface="Calibri"/>
              </a:rPr>
              <a:t> </a:t>
            </a:r>
            <a:r>
              <a:rPr lang="en-US" sz="2800" spc="-10" dirty="0">
                <a:solidFill>
                  <a:srgbClr val="404040"/>
                </a:solidFill>
                <a:latin typeface="Calibri"/>
                <a:cs typeface="Calibri"/>
              </a:rPr>
              <a:t>box</a:t>
            </a:r>
            <a:r>
              <a:rPr lang="en-US" sz="2800" spc="-20" dirty="0">
                <a:solidFill>
                  <a:srgbClr val="404040"/>
                </a:solidFill>
                <a:latin typeface="Calibri"/>
                <a:cs typeface="Calibri"/>
              </a:rPr>
              <a:t> </a:t>
            </a:r>
            <a:r>
              <a:rPr lang="en-US" sz="2800" dirty="0">
                <a:solidFill>
                  <a:srgbClr val="404040"/>
                </a:solidFill>
                <a:latin typeface="Calibri"/>
                <a:cs typeface="Calibri"/>
              </a:rPr>
              <a:t>which</a:t>
            </a:r>
            <a:r>
              <a:rPr lang="en-US" sz="2800" spc="5" dirty="0">
                <a:solidFill>
                  <a:srgbClr val="404040"/>
                </a:solidFill>
                <a:latin typeface="Calibri"/>
                <a:cs typeface="Calibri"/>
              </a:rPr>
              <a:t> </a:t>
            </a:r>
            <a:r>
              <a:rPr lang="en-US" sz="2800" spc="-5" dirty="0">
                <a:solidFill>
                  <a:srgbClr val="404040"/>
                </a:solidFill>
                <a:latin typeface="Calibri"/>
                <a:cs typeface="Calibri"/>
              </a:rPr>
              <a:t>allows</a:t>
            </a:r>
            <a:r>
              <a:rPr lang="en-US" sz="2800" spc="10" dirty="0">
                <a:solidFill>
                  <a:srgbClr val="404040"/>
                </a:solidFill>
                <a:latin typeface="Calibri"/>
                <a:cs typeface="Calibri"/>
              </a:rPr>
              <a:t> </a:t>
            </a:r>
            <a:r>
              <a:rPr lang="en-US" sz="2800" spc="-5" dirty="0">
                <a:solidFill>
                  <a:srgbClr val="404040"/>
                </a:solidFill>
                <a:latin typeface="Calibri"/>
                <a:cs typeface="Calibri"/>
              </a:rPr>
              <a:t>maximum</a:t>
            </a:r>
            <a:r>
              <a:rPr lang="en-US" sz="2800" spc="20" dirty="0">
                <a:solidFill>
                  <a:srgbClr val="404040"/>
                </a:solidFill>
                <a:latin typeface="Calibri"/>
                <a:cs typeface="Calibri"/>
              </a:rPr>
              <a:t> </a:t>
            </a:r>
            <a:r>
              <a:rPr lang="en-US" sz="2800" dirty="0">
                <a:solidFill>
                  <a:srgbClr val="404040"/>
                </a:solidFill>
                <a:latin typeface="Calibri"/>
                <a:cs typeface="Calibri"/>
              </a:rPr>
              <a:t>500</a:t>
            </a:r>
            <a:r>
              <a:rPr lang="en-US" sz="2800" spc="-30" dirty="0">
                <a:solidFill>
                  <a:srgbClr val="404040"/>
                </a:solidFill>
                <a:latin typeface="Calibri"/>
                <a:cs typeface="Calibri"/>
              </a:rPr>
              <a:t> </a:t>
            </a:r>
            <a:r>
              <a:rPr lang="en-US" sz="2800" spc="-10" dirty="0">
                <a:solidFill>
                  <a:srgbClr val="404040"/>
                </a:solidFill>
                <a:latin typeface="Calibri"/>
                <a:cs typeface="Calibri"/>
              </a:rPr>
              <a:t>characters.</a:t>
            </a:r>
            <a:r>
              <a:rPr lang="en-US" sz="2800" spc="15" dirty="0">
                <a:solidFill>
                  <a:srgbClr val="404040"/>
                </a:solidFill>
                <a:latin typeface="Calibri"/>
                <a:cs typeface="Calibri"/>
              </a:rPr>
              <a:t> </a:t>
            </a:r>
            <a:r>
              <a:rPr lang="en-US" sz="2800" spc="-10" dirty="0">
                <a:solidFill>
                  <a:srgbClr val="404040"/>
                </a:solidFill>
                <a:latin typeface="Calibri"/>
                <a:cs typeface="Calibri"/>
              </a:rPr>
              <a:t>So,</a:t>
            </a:r>
            <a:r>
              <a:rPr lang="en-US" sz="2800" spc="5" dirty="0">
                <a:solidFill>
                  <a:srgbClr val="404040"/>
                </a:solidFill>
                <a:latin typeface="Calibri"/>
                <a:cs typeface="Calibri"/>
              </a:rPr>
              <a:t> </a:t>
            </a:r>
            <a:r>
              <a:rPr lang="en-US" sz="2800" spc="-5" dirty="0">
                <a:solidFill>
                  <a:srgbClr val="404040"/>
                </a:solidFill>
                <a:latin typeface="Calibri"/>
                <a:cs typeface="Calibri"/>
              </a:rPr>
              <a:t>writing </a:t>
            </a:r>
            <a:r>
              <a:rPr lang="en-US" sz="2800" spc="-10" dirty="0">
                <a:solidFill>
                  <a:srgbClr val="404040"/>
                </a:solidFill>
                <a:latin typeface="Calibri"/>
                <a:cs typeface="Calibri"/>
              </a:rPr>
              <a:t>test</a:t>
            </a:r>
            <a:r>
              <a:rPr lang="en-US" sz="2800" spc="30" dirty="0">
                <a:solidFill>
                  <a:srgbClr val="404040"/>
                </a:solidFill>
                <a:latin typeface="Calibri"/>
                <a:cs typeface="Calibri"/>
              </a:rPr>
              <a:t> </a:t>
            </a:r>
            <a:r>
              <a:rPr lang="en-US" sz="2800" dirty="0">
                <a:solidFill>
                  <a:srgbClr val="404040"/>
                </a:solidFill>
                <a:latin typeface="Calibri"/>
                <a:cs typeface="Calibri"/>
              </a:rPr>
              <a:t>cases </a:t>
            </a:r>
            <a:r>
              <a:rPr lang="en-US" sz="2800" spc="-15" dirty="0">
                <a:solidFill>
                  <a:srgbClr val="404040"/>
                </a:solidFill>
                <a:latin typeface="Calibri"/>
                <a:cs typeface="Calibri"/>
              </a:rPr>
              <a:t>for</a:t>
            </a:r>
            <a:r>
              <a:rPr lang="en-US" sz="2800" spc="-5" dirty="0">
                <a:solidFill>
                  <a:srgbClr val="404040"/>
                </a:solidFill>
                <a:latin typeface="Calibri"/>
                <a:cs typeface="Calibri"/>
              </a:rPr>
              <a:t> </a:t>
            </a:r>
            <a:r>
              <a:rPr lang="en-US" sz="2800" dirty="0">
                <a:solidFill>
                  <a:srgbClr val="404040"/>
                </a:solidFill>
                <a:latin typeface="Calibri"/>
                <a:cs typeface="Calibri"/>
              </a:rPr>
              <a:t>each </a:t>
            </a:r>
            <a:r>
              <a:rPr lang="en-US" sz="2800" spc="-434" dirty="0">
                <a:solidFill>
                  <a:srgbClr val="404040"/>
                </a:solidFill>
                <a:latin typeface="Calibri"/>
                <a:cs typeface="Calibri"/>
              </a:rPr>
              <a:t> </a:t>
            </a:r>
            <a:r>
              <a:rPr lang="en-US" sz="2800" spc="-5" dirty="0">
                <a:solidFill>
                  <a:srgbClr val="404040"/>
                </a:solidFill>
                <a:latin typeface="Calibri"/>
                <a:cs typeface="Calibri"/>
              </a:rPr>
              <a:t>character</a:t>
            </a:r>
            <a:r>
              <a:rPr lang="en-US" sz="2800" dirty="0">
                <a:solidFill>
                  <a:srgbClr val="404040"/>
                </a:solidFill>
                <a:latin typeface="Calibri"/>
                <a:cs typeface="Calibri"/>
              </a:rPr>
              <a:t> once</a:t>
            </a:r>
            <a:r>
              <a:rPr lang="en-US" sz="2800" spc="-10" dirty="0">
                <a:solidFill>
                  <a:srgbClr val="404040"/>
                </a:solidFill>
                <a:latin typeface="Calibri"/>
                <a:cs typeface="Calibri"/>
              </a:rPr>
              <a:t> </a:t>
            </a:r>
            <a:r>
              <a:rPr lang="en-US" sz="2800" spc="-5" dirty="0">
                <a:solidFill>
                  <a:srgbClr val="404040"/>
                </a:solidFill>
                <a:latin typeface="Calibri"/>
                <a:cs typeface="Calibri"/>
              </a:rPr>
              <a:t>will</a:t>
            </a:r>
            <a:r>
              <a:rPr lang="en-US" sz="2800" spc="10" dirty="0">
                <a:solidFill>
                  <a:srgbClr val="404040"/>
                </a:solidFill>
                <a:latin typeface="Calibri"/>
                <a:cs typeface="Calibri"/>
              </a:rPr>
              <a:t> </a:t>
            </a:r>
            <a:r>
              <a:rPr lang="en-US" sz="2800" dirty="0">
                <a:solidFill>
                  <a:srgbClr val="404040"/>
                </a:solidFill>
                <a:latin typeface="Calibri"/>
                <a:cs typeface="Calibri"/>
              </a:rPr>
              <a:t>be</a:t>
            </a:r>
            <a:r>
              <a:rPr lang="en-US" sz="2800" spc="-10" dirty="0">
                <a:solidFill>
                  <a:srgbClr val="404040"/>
                </a:solidFill>
                <a:latin typeface="Calibri"/>
                <a:cs typeface="Calibri"/>
              </a:rPr>
              <a:t> </a:t>
            </a:r>
            <a:r>
              <a:rPr lang="en-US" sz="2800" spc="-5" dirty="0">
                <a:solidFill>
                  <a:srgbClr val="404040"/>
                </a:solidFill>
                <a:latin typeface="Calibri"/>
                <a:cs typeface="Calibri"/>
              </a:rPr>
              <a:t>very</a:t>
            </a:r>
            <a:r>
              <a:rPr lang="en-US" sz="2800" dirty="0">
                <a:solidFill>
                  <a:srgbClr val="404040"/>
                </a:solidFill>
                <a:latin typeface="Calibri"/>
                <a:cs typeface="Calibri"/>
              </a:rPr>
              <a:t> </a:t>
            </a:r>
            <a:r>
              <a:rPr lang="en-US" sz="2800" spc="-5" dirty="0">
                <a:solidFill>
                  <a:srgbClr val="404040"/>
                </a:solidFill>
                <a:latin typeface="Calibri"/>
                <a:cs typeface="Calibri"/>
              </a:rPr>
              <a:t>difficult</a:t>
            </a:r>
            <a:r>
              <a:rPr lang="en-US" sz="2800" spc="10" dirty="0">
                <a:solidFill>
                  <a:srgbClr val="404040"/>
                </a:solidFill>
                <a:latin typeface="Calibri"/>
                <a:cs typeface="Calibri"/>
              </a:rPr>
              <a:t> </a:t>
            </a:r>
            <a:r>
              <a:rPr lang="en-US" sz="2800" spc="-5" dirty="0">
                <a:solidFill>
                  <a:srgbClr val="404040"/>
                </a:solidFill>
                <a:latin typeface="Calibri"/>
                <a:cs typeface="Calibri"/>
              </a:rPr>
              <a:t>so</a:t>
            </a:r>
            <a:r>
              <a:rPr lang="en-US" sz="2800" dirty="0">
                <a:solidFill>
                  <a:srgbClr val="404040"/>
                </a:solidFill>
                <a:latin typeface="Calibri"/>
                <a:cs typeface="Calibri"/>
              </a:rPr>
              <a:t> </a:t>
            </a:r>
            <a:r>
              <a:rPr lang="en-US" sz="2800" spc="-5" dirty="0">
                <a:solidFill>
                  <a:srgbClr val="404040"/>
                </a:solidFill>
                <a:latin typeface="Calibri"/>
                <a:cs typeface="Calibri"/>
              </a:rPr>
              <a:t>that</a:t>
            </a:r>
            <a:r>
              <a:rPr lang="en-US" sz="2800" spc="5" dirty="0">
                <a:solidFill>
                  <a:srgbClr val="404040"/>
                </a:solidFill>
                <a:latin typeface="Calibri"/>
                <a:cs typeface="Calibri"/>
              </a:rPr>
              <a:t> </a:t>
            </a:r>
            <a:r>
              <a:rPr lang="en-US" sz="2800" spc="-5" dirty="0">
                <a:solidFill>
                  <a:srgbClr val="404040"/>
                </a:solidFill>
                <a:latin typeface="Calibri"/>
                <a:cs typeface="Calibri"/>
              </a:rPr>
              <a:t>will</a:t>
            </a:r>
            <a:r>
              <a:rPr lang="en-US" sz="2800" spc="5" dirty="0">
                <a:solidFill>
                  <a:srgbClr val="404040"/>
                </a:solidFill>
                <a:latin typeface="Calibri"/>
                <a:cs typeface="Calibri"/>
              </a:rPr>
              <a:t> </a:t>
            </a:r>
            <a:r>
              <a:rPr lang="en-US" sz="2800" spc="-5" dirty="0">
                <a:solidFill>
                  <a:srgbClr val="404040"/>
                </a:solidFill>
                <a:latin typeface="Calibri"/>
                <a:cs typeface="Calibri"/>
              </a:rPr>
              <a:t>choose</a:t>
            </a:r>
            <a:r>
              <a:rPr lang="en-US" sz="2800" dirty="0">
                <a:solidFill>
                  <a:srgbClr val="404040"/>
                </a:solidFill>
                <a:latin typeface="Calibri"/>
                <a:cs typeface="Calibri"/>
              </a:rPr>
              <a:t> boundary</a:t>
            </a:r>
            <a:r>
              <a:rPr lang="en-US" sz="2800" spc="-40" dirty="0">
                <a:solidFill>
                  <a:srgbClr val="404040"/>
                </a:solidFill>
                <a:latin typeface="Calibri"/>
                <a:cs typeface="Calibri"/>
              </a:rPr>
              <a:t> </a:t>
            </a:r>
            <a:r>
              <a:rPr lang="en-US" sz="2800" spc="-5" dirty="0">
                <a:solidFill>
                  <a:srgbClr val="404040"/>
                </a:solidFill>
                <a:latin typeface="Calibri"/>
                <a:cs typeface="Calibri"/>
              </a:rPr>
              <a:t>value</a:t>
            </a:r>
            <a:r>
              <a:rPr lang="en-US" sz="2800" spc="5" dirty="0">
                <a:solidFill>
                  <a:srgbClr val="404040"/>
                </a:solidFill>
                <a:latin typeface="Calibri"/>
                <a:cs typeface="Calibri"/>
              </a:rPr>
              <a:t> </a:t>
            </a:r>
            <a:r>
              <a:rPr lang="en-US" sz="2800" spc="-5" dirty="0">
                <a:solidFill>
                  <a:srgbClr val="404040"/>
                </a:solidFill>
                <a:latin typeface="Calibri"/>
                <a:cs typeface="Calibri"/>
              </a:rPr>
              <a:t>analysis</a:t>
            </a:r>
            <a:r>
              <a:rPr lang="en-US" sz="2800" spc="-5" dirty="0" smtClean="0">
                <a:solidFill>
                  <a:srgbClr val="404040"/>
                </a:solidFill>
                <a:latin typeface="Calibri"/>
                <a:cs typeface="Calibri"/>
              </a:rPr>
              <a:t>.</a:t>
            </a:r>
          </a:p>
          <a:p>
            <a:pPr eaLnBrk="1" hangingPunct="1"/>
            <a:r>
              <a:rPr lang="en-US" dirty="0" smtClean="0"/>
              <a:t>No character</a:t>
            </a:r>
          </a:p>
          <a:p>
            <a:pPr eaLnBrk="1" hangingPunct="1"/>
            <a:r>
              <a:rPr lang="en-US" dirty="0" smtClean="0"/>
              <a:t>1 character</a:t>
            </a:r>
          </a:p>
          <a:p>
            <a:pPr eaLnBrk="1" hangingPunct="1"/>
            <a:r>
              <a:rPr lang="en-US" dirty="0" smtClean="0"/>
              <a:t>2 characters</a:t>
            </a:r>
          </a:p>
          <a:p>
            <a:pPr eaLnBrk="1" hangingPunct="1"/>
            <a:r>
              <a:rPr lang="en-US" dirty="0" smtClean="0"/>
              <a:t>499 characters</a:t>
            </a:r>
          </a:p>
          <a:p>
            <a:pPr eaLnBrk="1" hangingPunct="1"/>
            <a:r>
              <a:rPr lang="en-US" dirty="0" smtClean="0"/>
              <a:t>500 characters</a:t>
            </a:r>
          </a:p>
          <a:p>
            <a:pPr eaLnBrk="1" hangingPunct="1"/>
            <a:r>
              <a:rPr lang="en-US" dirty="0" smtClean="0"/>
              <a:t>501 characters</a:t>
            </a:r>
          </a:p>
        </p:txBody>
      </p:sp>
    </p:spTree>
    <p:extLst>
      <p:ext uri="{BB962C8B-B14F-4D97-AF65-F5344CB8AC3E}">
        <p14:creationId xmlns:p14="http://schemas.microsoft.com/office/powerpoint/2010/main" val="20362951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Equivalence and Boundary </a:t>
            </a:r>
            <a:r>
              <a:rPr lang="en-US" dirty="0" smtClean="0"/>
              <a:t>Value</a:t>
            </a:r>
            <a:endParaRPr lang="en-US" dirty="0"/>
          </a:p>
        </p:txBody>
      </p:sp>
      <p:sp>
        <p:nvSpPr>
          <p:cNvPr id="6" name="Rectangle 3"/>
          <p:cNvSpPr>
            <a:spLocks noGrp="1" noChangeArrowheads="1"/>
          </p:cNvSpPr>
          <p:nvPr>
            <p:ph idx="1"/>
          </p:nvPr>
        </p:nvSpPr>
        <p:spPr>
          <a:xfrm>
            <a:off x="457200" y="1935480"/>
            <a:ext cx="8229600" cy="4389120"/>
          </a:xfrm>
        </p:spPr>
        <p:txBody>
          <a:bodyPr>
            <a:normAutofit/>
          </a:bodyPr>
          <a:lstStyle/>
          <a:p>
            <a:pPr marL="12700" marR="12700">
              <a:lnSpc>
                <a:spcPct val="90000"/>
              </a:lnSpc>
              <a:spcBef>
                <a:spcPts val="1405"/>
              </a:spcBef>
            </a:pPr>
            <a:r>
              <a:rPr lang="en-US" sz="2800" spc="-5" dirty="0" smtClean="0">
                <a:solidFill>
                  <a:srgbClr val="404040"/>
                </a:solidFill>
                <a:latin typeface="Calibri"/>
                <a:cs typeface="Calibri"/>
              </a:rPr>
              <a:t>Let's </a:t>
            </a:r>
            <a:r>
              <a:rPr lang="en-US" sz="2800" spc="-5" dirty="0">
                <a:solidFill>
                  <a:srgbClr val="404040"/>
                </a:solidFill>
                <a:latin typeface="Calibri"/>
                <a:cs typeface="Calibri"/>
              </a:rPr>
              <a:t>consider </a:t>
            </a:r>
            <a:r>
              <a:rPr lang="en-US" sz="2800" dirty="0">
                <a:solidFill>
                  <a:srgbClr val="404040"/>
                </a:solidFill>
                <a:latin typeface="Calibri"/>
                <a:cs typeface="Calibri"/>
              </a:rPr>
              <a:t>the </a:t>
            </a:r>
            <a:r>
              <a:rPr lang="en-US" sz="2800" spc="-5" dirty="0">
                <a:solidFill>
                  <a:srgbClr val="404040"/>
                </a:solidFill>
                <a:latin typeface="Calibri"/>
                <a:cs typeface="Calibri"/>
              </a:rPr>
              <a:t>behavior of </a:t>
            </a:r>
            <a:r>
              <a:rPr lang="en-US" sz="2800" dirty="0">
                <a:solidFill>
                  <a:srgbClr val="404040"/>
                </a:solidFill>
                <a:latin typeface="Calibri"/>
                <a:cs typeface="Calibri"/>
              </a:rPr>
              <a:t> </a:t>
            </a:r>
            <a:r>
              <a:rPr lang="en-US" sz="2800" spc="-10" dirty="0">
                <a:solidFill>
                  <a:srgbClr val="404040"/>
                </a:solidFill>
                <a:latin typeface="Calibri"/>
                <a:cs typeface="Calibri"/>
              </a:rPr>
              <a:t>Order</a:t>
            </a:r>
            <a:r>
              <a:rPr lang="en-US" sz="2800" spc="-25" dirty="0">
                <a:solidFill>
                  <a:srgbClr val="404040"/>
                </a:solidFill>
                <a:latin typeface="Calibri"/>
                <a:cs typeface="Calibri"/>
              </a:rPr>
              <a:t> </a:t>
            </a:r>
            <a:r>
              <a:rPr lang="en-US" sz="2800" spc="-10" dirty="0">
                <a:solidFill>
                  <a:srgbClr val="404040"/>
                </a:solidFill>
                <a:latin typeface="Calibri"/>
                <a:cs typeface="Calibri"/>
              </a:rPr>
              <a:t>Pizza</a:t>
            </a:r>
            <a:r>
              <a:rPr lang="en-US" sz="2800" spc="-5" dirty="0">
                <a:solidFill>
                  <a:srgbClr val="404040"/>
                </a:solidFill>
                <a:latin typeface="Calibri"/>
                <a:cs typeface="Calibri"/>
              </a:rPr>
              <a:t> </a:t>
            </a:r>
            <a:r>
              <a:rPr lang="en-US" sz="2800" spc="-60" dirty="0">
                <a:solidFill>
                  <a:srgbClr val="404040"/>
                </a:solidFill>
                <a:latin typeface="Calibri"/>
                <a:cs typeface="Calibri"/>
              </a:rPr>
              <a:t>Text</a:t>
            </a:r>
            <a:r>
              <a:rPr lang="en-US" sz="2800" spc="10" dirty="0">
                <a:solidFill>
                  <a:srgbClr val="404040"/>
                </a:solidFill>
                <a:latin typeface="Calibri"/>
                <a:cs typeface="Calibri"/>
              </a:rPr>
              <a:t> </a:t>
            </a:r>
            <a:r>
              <a:rPr lang="en-US" sz="2800" spc="-10" dirty="0">
                <a:solidFill>
                  <a:srgbClr val="404040"/>
                </a:solidFill>
                <a:latin typeface="Calibri"/>
                <a:cs typeface="Calibri"/>
              </a:rPr>
              <a:t>Box</a:t>
            </a:r>
            <a:r>
              <a:rPr lang="en-US" sz="2800" spc="-30" dirty="0">
                <a:solidFill>
                  <a:srgbClr val="404040"/>
                </a:solidFill>
                <a:latin typeface="Calibri"/>
                <a:cs typeface="Calibri"/>
              </a:rPr>
              <a:t> </a:t>
            </a:r>
            <a:r>
              <a:rPr lang="en-US" sz="2800" spc="-10" dirty="0">
                <a:solidFill>
                  <a:srgbClr val="404040"/>
                </a:solidFill>
                <a:latin typeface="Calibri"/>
                <a:cs typeface="Calibri"/>
              </a:rPr>
              <a:t>Pizza</a:t>
            </a:r>
            <a:r>
              <a:rPr lang="en-US" sz="2800" spc="5" dirty="0">
                <a:solidFill>
                  <a:srgbClr val="404040"/>
                </a:solidFill>
                <a:latin typeface="Calibri"/>
                <a:cs typeface="Calibri"/>
              </a:rPr>
              <a:t> </a:t>
            </a:r>
            <a:r>
              <a:rPr lang="en-US" sz="2800" spc="-5" dirty="0">
                <a:solidFill>
                  <a:srgbClr val="404040"/>
                </a:solidFill>
                <a:latin typeface="Calibri"/>
                <a:cs typeface="Calibri"/>
              </a:rPr>
              <a:t>values </a:t>
            </a:r>
            <a:r>
              <a:rPr lang="en-US" sz="2800" spc="-440" dirty="0">
                <a:solidFill>
                  <a:srgbClr val="404040"/>
                </a:solidFill>
                <a:latin typeface="Calibri"/>
                <a:cs typeface="Calibri"/>
              </a:rPr>
              <a:t> </a:t>
            </a:r>
            <a:r>
              <a:rPr lang="en-US" sz="2800" dirty="0">
                <a:solidFill>
                  <a:srgbClr val="404040"/>
                </a:solidFill>
                <a:latin typeface="Calibri"/>
                <a:cs typeface="Calibri"/>
              </a:rPr>
              <a:t>1 </a:t>
            </a:r>
            <a:r>
              <a:rPr lang="en-US" sz="2800" spc="-10" dirty="0">
                <a:solidFill>
                  <a:srgbClr val="404040"/>
                </a:solidFill>
                <a:latin typeface="Calibri"/>
                <a:cs typeface="Calibri"/>
              </a:rPr>
              <a:t>to </a:t>
            </a:r>
            <a:r>
              <a:rPr lang="en-US" sz="2800" dirty="0">
                <a:solidFill>
                  <a:srgbClr val="404040"/>
                </a:solidFill>
                <a:latin typeface="Calibri"/>
                <a:cs typeface="Calibri"/>
              </a:rPr>
              <a:t>10 </a:t>
            </a:r>
            <a:r>
              <a:rPr lang="en-US" sz="2800" spc="-5" dirty="0">
                <a:solidFill>
                  <a:srgbClr val="404040"/>
                </a:solidFill>
                <a:latin typeface="Calibri"/>
                <a:cs typeface="Calibri"/>
              </a:rPr>
              <a:t>is considered valid. </a:t>
            </a:r>
            <a:r>
              <a:rPr lang="en-US" sz="2800" dirty="0">
                <a:solidFill>
                  <a:srgbClr val="404040"/>
                </a:solidFill>
                <a:latin typeface="Calibri"/>
                <a:cs typeface="Calibri"/>
              </a:rPr>
              <a:t>A </a:t>
            </a:r>
            <a:r>
              <a:rPr lang="en-US" sz="2800" spc="5" dirty="0">
                <a:solidFill>
                  <a:srgbClr val="404040"/>
                </a:solidFill>
                <a:latin typeface="Calibri"/>
                <a:cs typeface="Calibri"/>
              </a:rPr>
              <a:t> </a:t>
            </a:r>
            <a:r>
              <a:rPr lang="en-US" sz="2800" dirty="0">
                <a:solidFill>
                  <a:srgbClr val="404040"/>
                </a:solidFill>
                <a:latin typeface="Calibri"/>
                <a:cs typeface="Calibri"/>
              </a:rPr>
              <a:t>success </a:t>
            </a:r>
            <a:r>
              <a:rPr lang="en-US" sz="2800" spc="-5" dirty="0">
                <a:solidFill>
                  <a:srgbClr val="404040"/>
                </a:solidFill>
                <a:latin typeface="Calibri"/>
                <a:cs typeface="Calibri"/>
              </a:rPr>
              <a:t>message</a:t>
            </a:r>
            <a:r>
              <a:rPr lang="en-US" sz="2800" spc="5" dirty="0">
                <a:solidFill>
                  <a:srgbClr val="404040"/>
                </a:solidFill>
                <a:latin typeface="Calibri"/>
                <a:cs typeface="Calibri"/>
              </a:rPr>
              <a:t> </a:t>
            </a:r>
            <a:r>
              <a:rPr lang="en-US" sz="2800" dirty="0">
                <a:solidFill>
                  <a:srgbClr val="404040"/>
                </a:solidFill>
                <a:latin typeface="Calibri"/>
                <a:cs typeface="Calibri"/>
              </a:rPr>
              <a:t>is</a:t>
            </a:r>
            <a:r>
              <a:rPr lang="en-US" sz="2800" spc="-15" dirty="0">
                <a:solidFill>
                  <a:srgbClr val="404040"/>
                </a:solidFill>
                <a:latin typeface="Calibri"/>
                <a:cs typeface="Calibri"/>
              </a:rPr>
              <a:t> </a:t>
            </a:r>
            <a:r>
              <a:rPr lang="en-US" sz="2800" spc="-5" dirty="0">
                <a:solidFill>
                  <a:srgbClr val="404040"/>
                </a:solidFill>
                <a:latin typeface="Calibri"/>
                <a:cs typeface="Calibri"/>
              </a:rPr>
              <a:t>shown.</a:t>
            </a:r>
            <a:endParaRPr lang="en-US" sz="2800" dirty="0">
              <a:latin typeface="Calibri"/>
              <a:cs typeface="Calibri"/>
            </a:endParaRPr>
          </a:p>
        </p:txBody>
      </p:sp>
      <p:pic>
        <p:nvPicPr>
          <p:cNvPr id="4" name="object 5"/>
          <p:cNvPicPr/>
          <p:nvPr/>
        </p:nvPicPr>
        <p:blipFill>
          <a:blip r:embed="rId2" cstate="print"/>
          <a:stretch>
            <a:fillRect/>
          </a:stretch>
        </p:blipFill>
        <p:spPr>
          <a:xfrm>
            <a:off x="1295400" y="4820412"/>
            <a:ext cx="5618988" cy="2037588"/>
          </a:xfrm>
          <a:prstGeom prst="rect">
            <a:avLst/>
          </a:prstGeom>
        </p:spPr>
      </p:pic>
      <p:sp>
        <p:nvSpPr>
          <p:cNvPr id="5" name="object 4"/>
          <p:cNvSpPr txBox="1"/>
          <p:nvPr/>
        </p:nvSpPr>
        <p:spPr>
          <a:xfrm>
            <a:off x="3429001" y="2743200"/>
            <a:ext cx="5715000" cy="1951816"/>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chemeClr val="tx1"/>
                </a:solidFill>
                <a:latin typeface="Calibri"/>
                <a:cs typeface="Calibri"/>
              </a:rPr>
              <a:t>Here</a:t>
            </a:r>
            <a:r>
              <a:rPr sz="1800" b="1" spc="-15" dirty="0">
                <a:solidFill>
                  <a:schemeClr val="tx1"/>
                </a:solidFill>
                <a:latin typeface="Calibri"/>
                <a:cs typeface="Calibri"/>
              </a:rPr>
              <a:t> </a:t>
            </a:r>
            <a:r>
              <a:rPr sz="1800" b="1" dirty="0">
                <a:solidFill>
                  <a:schemeClr val="tx1"/>
                </a:solidFill>
                <a:latin typeface="Calibri"/>
                <a:cs typeface="Calibri"/>
              </a:rPr>
              <a:t>is</a:t>
            </a:r>
            <a:r>
              <a:rPr sz="1800" b="1" spc="-15" dirty="0">
                <a:solidFill>
                  <a:schemeClr val="tx1"/>
                </a:solidFill>
                <a:latin typeface="Calibri"/>
                <a:cs typeface="Calibri"/>
              </a:rPr>
              <a:t> </a:t>
            </a:r>
            <a:r>
              <a:rPr sz="1800" b="1" dirty="0">
                <a:solidFill>
                  <a:schemeClr val="tx1"/>
                </a:solidFill>
                <a:latin typeface="Calibri"/>
                <a:cs typeface="Calibri"/>
              </a:rPr>
              <a:t>the</a:t>
            </a:r>
            <a:r>
              <a:rPr sz="1800" b="1" spc="-25" dirty="0">
                <a:solidFill>
                  <a:schemeClr val="tx1"/>
                </a:solidFill>
                <a:latin typeface="Calibri"/>
                <a:cs typeface="Calibri"/>
              </a:rPr>
              <a:t> </a:t>
            </a:r>
            <a:r>
              <a:rPr sz="1800" b="1" spc="-15" dirty="0">
                <a:solidFill>
                  <a:schemeClr val="tx1"/>
                </a:solidFill>
                <a:latin typeface="Calibri"/>
                <a:cs typeface="Calibri"/>
              </a:rPr>
              <a:t>test</a:t>
            </a:r>
            <a:r>
              <a:rPr sz="1800" b="1" spc="-5" dirty="0">
                <a:solidFill>
                  <a:schemeClr val="tx1"/>
                </a:solidFill>
                <a:latin typeface="Calibri"/>
                <a:cs typeface="Calibri"/>
              </a:rPr>
              <a:t> condition</a:t>
            </a:r>
            <a:endParaRPr sz="1800" dirty="0">
              <a:solidFill>
                <a:schemeClr val="tx1"/>
              </a:solidFill>
              <a:latin typeface="Calibri"/>
              <a:cs typeface="Calibri"/>
            </a:endParaRPr>
          </a:p>
          <a:p>
            <a:pPr marL="12700" marR="5080">
              <a:lnSpc>
                <a:spcPct val="100000"/>
              </a:lnSpc>
              <a:spcBef>
                <a:spcPts val="5"/>
              </a:spcBef>
            </a:pPr>
            <a:r>
              <a:rPr sz="1800" spc="-10" dirty="0">
                <a:solidFill>
                  <a:schemeClr val="tx1"/>
                </a:solidFill>
                <a:latin typeface="Calibri"/>
                <a:cs typeface="Calibri"/>
              </a:rPr>
              <a:t>Any </a:t>
            </a:r>
            <a:r>
              <a:rPr sz="1800" dirty="0">
                <a:solidFill>
                  <a:schemeClr val="tx1"/>
                </a:solidFill>
                <a:latin typeface="Calibri"/>
                <a:cs typeface="Calibri"/>
              </a:rPr>
              <a:t>Number </a:t>
            </a:r>
            <a:r>
              <a:rPr sz="1800" spc="-10" dirty="0">
                <a:solidFill>
                  <a:schemeClr val="tx1"/>
                </a:solidFill>
                <a:latin typeface="Calibri"/>
                <a:cs typeface="Calibri"/>
              </a:rPr>
              <a:t>greater </a:t>
            </a:r>
            <a:r>
              <a:rPr sz="1800" dirty="0">
                <a:solidFill>
                  <a:schemeClr val="tx1"/>
                </a:solidFill>
                <a:latin typeface="Calibri"/>
                <a:cs typeface="Calibri"/>
              </a:rPr>
              <a:t>than 10 </a:t>
            </a:r>
            <a:r>
              <a:rPr sz="1800" spc="-10" dirty="0">
                <a:solidFill>
                  <a:schemeClr val="tx1"/>
                </a:solidFill>
                <a:latin typeface="Calibri"/>
                <a:cs typeface="Calibri"/>
              </a:rPr>
              <a:t>entered </a:t>
            </a:r>
            <a:r>
              <a:rPr sz="1800" spc="-5" dirty="0">
                <a:solidFill>
                  <a:schemeClr val="tx1"/>
                </a:solidFill>
                <a:latin typeface="Calibri"/>
                <a:cs typeface="Calibri"/>
              </a:rPr>
              <a:t>in </a:t>
            </a:r>
            <a:r>
              <a:rPr sz="1800" dirty="0">
                <a:solidFill>
                  <a:schemeClr val="tx1"/>
                </a:solidFill>
                <a:latin typeface="Calibri"/>
                <a:cs typeface="Calibri"/>
              </a:rPr>
              <a:t>the </a:t>
            </a:r>
            <a:r>
              <a:rPr sz="1800" spc="-395" dirty="0">
                <a:solidFill>
                  <a:schemeClr val="tx1"/>
                </a:solidFill>
                <a:latin typeface="Calibri"/>
                <a:cs typeface="Calibri"/>
              </a:rPr>
              <a:t> </a:t>
            </a:r>
            <a:r>
              <a:rPr sz="1800" spc="-10" dirty="0">
                <a:solidFill>
                  <a:schemeClr val="tx1"/>
                </a:solidFill>
                <a:latin typeface="Calibri"/>
                <a:cs typeface="Calibri"/>
              </a:rPr>
              <a:t>Order Pizza </a:t>
            </a:r>
            <a:r>
              <a:rPr sz="1800" spc="-5" dirty="0">
                <a:solidFill>
                  <a:schemeClr val="tx1"/>
                </a:solidFill>
                <a:latin typeface="Calibri"/>
                <a:cs typeface="Calibri"/>
              </a:rPr>
              <a:t>field</a:t>
            </a:r>
            <a:r>
              <a:rPr sz="1800" b="1" spc="-5" dirty="0">
                <a:solidFill>
                  <a:schemeClr val="tx1"/>
                </a:solidFill>
                <a:latin typeface="Calibri"/>
                <a:cs typeface="Calibri"/>
              </a:rPr>
              <a:t>(let </a:t>
            </a:r>
            <a:r>
              <a:rPr sz="1800" b="1" spc="-15" dirty="0">
                <a:solidFill>
                  <a:schemeClr val="tx1"/>
                </a:solidFill>
                <a:latin typeface="Calibri"/>
                <a:cs typeface="Calibri"/>
              </a:rPr>
              <a:t>say </a:t>
            </a:r>
            <a:r>
              <a:rPr sz="1800" b="1" dirty="0">
                <a:solidFill>
                  <a:schemeClr val="tx1"/>
                </a:solidFill>
                <a:latin typeface="Calibri"/>
                <a:cs typeface="Calibri"/>
              </a:rPr>
              <a:t>11) is </a:t>
            </a:r>
            <a:r>
              <a:rPr sz="1800" b="1" spc="-5" dirty="0">
                <a:solidFill>
                  <a:schemeClr val="tx1"/>
                </a:solidFill>
                <a:latin typeface="Calibri"/>
                <a:cs typeface="Calibri"/>
              </a:rPr>
              <a:t>considered </a:t>
            </a:r>
            <a:r>
              <a:rPr sz="1800" b="1" dirty="0">
                <a:solidFill>
                  <a:schemeClr val="tx1"/>
                </a:solidFill>
                <a:latin typeface="Calibri"/>
                <a:cs typeface="Calibri"/>
              </a:rPr>
              <a:t> </a:t>
            </a:r>
            <a:r>
              <a:rPr sz="1800" b="1" spc="-10" dirty="0">
                <a:solidFill>
                  <a:schemeClr val="tx1"/>
                </a:solidFill>
                <a:latin typeface="Calibri"/>
                <a:cs typeface="Calibri"/>
              </a:rPr>
              <a:t>invalid</a:t>
            </a:r>
            <a:r>
              <a:rPr sz="1800" spc="-10" dirty="0">
                <a:solidFill>
                  <a:schemeClr val="tx1"/>
                </a:solidFill>
                <a:latin typeface="Calibri"/>
                <a:cs typeface="Calibri"/>
              </a:rPr>
              <a:t>.</a:t>
            </a:r>
            <a:endParaRPr sz="1800" dirty="0">
              <a:solidFill>
                <a:schemeClr val="tx1"/>
              </a:solidFill>
              <a:latin typeface="Calibri"/>
              <a:cs typeface="Calibri"/>
            </a:endParaRPr>
          </a:p>
          <a:p>
            <a:pPr marL="12700">
              <a:lnSpc>
                <a:spcPct val="100000"/>
              </a:lnSpc>
            </a:pPr>
            <a:r>
              <a:rPr sz="1800" spc="-10" dirty="0">
                <a:solidFill>
                  <a:schemeClr val="tx1"/>
                </a:solidFill>
                <a:latin typeface="Calibri"/>
                <a:cs typeface="Calibri"/>
              </a:rPr>
              <a:t>Any </a:t>
            </a:r>
            <a:r>
              <a:rPr sz="1800" dirty="0">
                <a:solidFill>
                  <a:schemeClr val="tx1"/>
                </a:solidFill>
                <a:latin typeface="Calibri"/>
                <a:cs typeface="Calibri"/>
              </a:rPr>
              <a:t>Number</a:t>
            </a:r>
            <a:r>
              <a:rPr sz="1800" spc="-5" dirty="0">
                <a:solidFill>
                  <a:schemeClr val="tx1"/>
                </a:solidFill>
                <a:latin typeface="Calibri"/>
                <a:cs typeface="Calibri"/>
              </a:rPr>
              <a:t> less </a:t>
            </a:r>
            <a:r>
              <a:rPr sz="1800" dirty="0">
                <a:solidFill>
                  <a:schemeClr val="tx1"/>
                </a:solidFill>
                <a:latin typeface="Calibri"/>
                <a:cs typeface="Calibri"/>
              </a:rPr>
              <a:t>than </a:t>
            </a:r>
            <a:r>
              <a:rPr sz="1800" b="1" dirty="0">
                <a:solidFill>
                  <a:schemeClr val="tx1"/>
                </a:solidFill>
                <a:latin typeface="Calibri"/>
                <a:cs typeface="Calibri"/>
              </a:rPr>
              <a:t>1 </a:t>
            </a:r>
            <a:r>
              <a:rPr sz="1800" b="1" spc="-5" dirty="0">
                <a:solidFill>
                  <a:schemeClr val="tx1"/>
                </a:solidFill>
                <a:latin typeface="Calibri"/>
                <a:cs typeface="Calibri"/>
              </a:rPr>
              <a:t>that</a:t>
            </a:r>
            <a:r>
              <a:rPr sz="1800" b="1" spc="-15" dirty="0">
                <a:solidFill>
                  <a:schemeClr val="tx1"/>
                </a:solidFill>
                <a:latin typeface="Calibri"/>
                <a:cs typeface="Calibri"/>
              </a:rPr>
              <a:t> </a:t>
            </a:r>
            <a:r>
              <a:rPr sz="1800" b="1" dirty="0">
                <a:solidFill>
                  <a:schemeClr val="tx1"/>
                </a:solidFill>
                <a:latin typeface="Calibri"/>
                <a:cs typeface="Calibri"/>
              </a:rPr>
              <a:t>is</a:t>
            </a:r>
            <a:r>
              <a:rPr sz="1800" b="1" spc="-15" dirty="0">
                <a:solidFill>
                  <a:schemeClr val="tx1"/>
                </a:solidFill>
                <a:latin typeface="Calibri"/>
                <a:cs typeface="Calibri"/>
              </a:rPr>
              <a:t> </a:t>
            </a:r>
            <a:r>
              <a:rPr sz="1800" b="1" dirty="0">
                <a:solidFill>
                  <a:schemeClr val="tx1"/>
                </a:solidFill>
                <a:latin typeface="Calibri"/>
                <a:cs typeface="Calibri"/>
              </a:rPr>
              <a:t>0</a:t>
            </a:r>
            <a:r>
              <a:rPr sz="1800" b="1" spc="5" dirty="0">
                <a:solidFill>
                  <a:schemeClr val="tx1"/>
                </a:solidFill>
                <a:latin typeface="Calibri"/>
                <a:cs typeface="Calibri"/>
              </a:rPr>
              <a:t> </a:t>
            </a:r>
            <a:r>
              <a:rPr sz="1800" b="1" dirty="0">
                <a:solidFill>
                  <a:schemeClr val="tx1"/>
                </a:solidFill>
                <a:latin typeface="Calibri"/>
                <a:cs typeface="Calibri"/>
              </a:rPr>
              <a:t>or</a:t>
            </a:r>
            <a:r>
              <a:rPr sz="1800" b="1" spc="-25" dirty="0">
                <a:solidFill>
                  <a:schemeClr val="tx1"/>
                </a:solidFill>
                <a:latin typeface="Calibri"/>
                <a:cs typeface="Calibri"/>
              </a:rPr>
              <a:t> </a:t>
            </a:r>
            <a:r>
              <a:rPr sz="1800" b="1" spc="-20" dirty="0">
                <a:solidFill>
                  <a:schemeClr val="tx1"/>
                </a:solidFill>
                <a:latin typeface="Calibri"/>
                <a:cs typeface="Calibri"/>
              </a:rPr>
              <a:t>below,</a:t>
            </a:r>
            <a:endParaRPr sz="1800" dirty="0">
              <a:solidFill>
                <a:schemeClr val="tx1"/>
              </a:solidFill>
              <a:latin typeface="Calibri"/>
              <a:cs typeface="Calibri"/>
            </a:endParaRPr>
          </a:p>
          <a:p>
            <a:pPr marL="12700">
              <a:lnSpc>
                <a:spcPct val="100000"/>
              </a:lnSpc>
            </a:pPr>
            <a:r>
              <a:rPr sz="1800" b="1" dirty="0">
                <a:solidFill>
                  <a:schemeClr val="tx1"/>
                </a:solidFill>
                <a:latin typeface="Calibri"/>
                <a:cs typeface="Calibri"/>
              </a:rPr>
              <a:t>then</a:t>
            </a:r>
            <a:r>
              <a:rPr sz="1800" b="1" spc="-35" dirty="0">
                <a:solidFill>
                  <a:schemeClr val="tx1"/>
                </a:solidFill>
                <a:latin typeface="Calibri"/>
                <a:cs typeface="Calibri"/>
              </a:rPr>
              <a:t> </a:t>
            </a:r>
            <a:r>
              <a:rPr sz="1800" b="1" dirty="0">
                <a:solidFill>
                  <a:schemeClr val="tx1"/>
                </a:solidFill>
                <a:latin typeface="Calibri"/>
                <a:cs typeface="Calibri"/>
              </a:rPr>
              <a:t>it</a:t>
            </a:r>
            <a:r>
              <a:rPr sz="1800" b="1" spc="-15" dirty="0">
                <a:solidFill>
                  <a:schemeClr val="tx1"/>
                </a:solidFill>
                <a:latin typeface="Calibri"/>
                <a:cs typeface="Calibri"/>
              </a:rPr>
              <a:t> </a:t>
            </a:r>
            <a:r>
              <a:rPr sz="1800" b="1" dirty="0">
                <a:solidFill>
                  <a:schemeClr val="tx1"/>
                </a:solidFill>
                <a:latin typeface="Calibri"/>
                <a:cs typeface="Calibri"/>
              </a:rPr>
              <a:t>is</a:t>
            </a:r>
            <a:r>
              <a:rPr sz="1800" b="1" spc="-25" dirty="0">
                <a:solidFill>
                  <a:schemeClr val="tx1"/>
                </a:solidFill>
                <a:latin typeface="Calibri"/>
                <a:cs typeface="Calibri"/>
              </a:rPr>
              <a:t> </a:t>
            </a:r>
            <a:r>
              <a:rPr sz="1800" b="1" spc="-5" dirty="0">
                <a:solidFill>
                  <a:schemeClr val="tx1"/>
                </a:solidFill>
                <a:latin typeface="Calibri"/>
                <a:cs typeface="Calibri"/>
              </a:rPr>
              <a:t>considered</a:t>
            </a:r>
            <a:r>
              <a:rPr sz="1800" b="1" spc="-55" dirty="0">
                <a:solidFill>
                  <a:schemeClr val="tx1"/>
                </a:solidFill>
                <a:latin typeface="Calibri"/>
                <a:cs typeface="Calibri"/>
              </a:rPr>
              <a:t> </a:t>
            </a:r>
            <a:r>
              <a:rPr sz="1800" b="1" spc="-5" dirty="0">
                <a:solidFill>
                  <a:schemeClr val="tx1"/>
                </a:solidFill>
                <a:latin typeface="Calibri"/>
                <a:cs typeface="Calibri"/>
              </a:rPr>
              <a:t>invalid</a:t>
            </a:r>
            <a:r>
              <a:rPr sz="1800" spc="-5" dirty="0">
                <a:solidFill>
                  <a:schemeClr val="tx1"/>
                </a:solidFill>
                <a:latin typeface="Calibri"/>
                <a:cs typeface="Calibri"/>
              </a:rPr>
              <a:t>.</a:t>
            </a:r>
            <a:endParaRPr sz="1800" dirty="0">
              <a:solidFill>
                <a:schemeClr val="tx1"/>
              </a:solidFill>
              <a:latin typeface="Calibri"/>
              <a:cs typeface="Calibri"/>
            </a:endParaRPr>
          </a:p>
          <a:p>
            <a:pPr marL="12700" marR="455930">
              <a:lnSpc>
                <a:spcPct val="100000"/>
              </a:lnSpc>
            </a:pPr>
            <a:r>
              <a:rPr sz="1800" spc="-10" dirty="0">
                <a:solidFill>
                  <a:schemeClr val="tx1"/>
                </a:solidFill>
                <a:latin typeface="Calibri"/>
                <a:cs typeface="Calibri"/>
              </a:rPr>
              <a:t>Numbers</a:t>
            </a:r>
            <a:r>
              <a:rPr sz="1800" spc="-5" dirty="0">
                <a:solidFill>
                  <a:schemeClr val="tx1"/>
                </a:solidFill>
                <a:latin typeface="Calibri"/>
                <a:cs typeface="Calibri"/>
              </a:rPr>
              <a:t> </a:t>
            </a:r>
            <a:r>
              <a:rPr sz="1800" dirty="0">
                <a:solidFill>
                  <a:schemeClr val="tx1"/>
                </a:solidFill>
                <a:latin typeface="Calibri"/>
                <a:cs typeface="Calibri"/>
              </a:rPr>
              <a:t>1</a:t>
            </a:r>
            <a:r>
              <a:rPr sz="1800" spc="5" dirty="0">
                <a:solidFill>
                  <a:schemeClr val="tx1"/>
                </a:solidFill>
                <a:latin typeface="Calibri"/>
                <a:cs typeface="Calibri"/>
              </a:rPr>
              <a:t> </a:t>
            </a:r>
            <a:r>
              <a:rPr sz="1800" spc="-10" dirty="0">
                <a:solidFill>
                  <a:schemeClr val="tx1"/>
                </a:solidFill>
                <a:latin typeface="Calibri"/>
                <a:cs typeface="Calibri"/>
              </a:rPr>
              <a:t>to </a:t>
            </a:r>
            <a:r>
              <a:rPr sz="1800" dirty="0">
                <a:solidFill>
                  <a:schemeClr val="tx1"/>
                </a:solidFill>
                <a:latin typeface="Calibri"/>
                <a:cs typeface="Calibri"/>
              </a:rPr>
              <a:t>10 </a:t>
            </a:r>
            <a:r>
              <a:rPr sz="1800" spc="-10" dirty="0">
                <a:solidFill>
                  <a:schemeClr val="tx1"/>
                </a:solidFill>
                <a:latin typeface="Calibri"/>
                <a:cs typeface="Calibri"/>
              </a:rPr>
              <a:t>are</a:t>
            </a:r>
            <a:r>
              <a:rPr sz="1800" spc="10" dirty="0">
                <a:solidFill>
                  <a:schemeClr val="tx1"/>
                </a:solidFill>
                <a:latin typeface="Calibri"/>
                <a:cs typeface="Calibri"/>
              </a:rPr>
              <a:t> </a:t>
            </a:r>
            <a:r>
              <a:rPr sz="1800" spc="-10" dirty="0">
                <a:solidFill>
                  <a:schemeClr val="tx1"/>
                </a:solidFill>
                <a:latin typeface="Calibri"/>
                <a:cs typeface="Calibri"/>
              </a:rPr>
              <a:t>considered</a:t>
            </a:r>
            <a:r>
              <a:rPr sz="1800" spc="10" dirty="0">
                <a:solidFill>
                  <a:schemeClr val="tx1"/>
                </a:solidFill>
                <a:latin typeface="Calibri"/>
                <a:cs typeface="Calibri"/>
              </a:rPr>
              <a:t> </a:t>
            </a:r>
            <a:r>
              <a:rPr sz="1800" spc="-10" dirty="0">
                <a:solidFill>
                  <a:schemeClr val="tx1"/>
                </a:solidFill>
                <a:latin typeface="Calibri"/>
                <a:cs typeface="Calibri"/>
              </a:rPr>
              <a:t>valid </a:t>
            </a:r>
            <a:r>
              <a:rPr sz="1800" spc="-5" dirty="0">
                <a:solidFill>
                  <a:schemeClr val="tx1"/>
                </a:solidFill>
                <a:latin typeface="Calibri"/>
                <a:cs typeface="Calibri"/>
              </a:rPr>
              <a:t> </a:t>
            </a:r>
            <a:r>
              <a:rPr sz="1800" spc="-10" dirty="0">
                <a:solidFill>
                  <a:schemeClr val="tx1"/>
                </a:solidFill>
                <a:latin typeface="Calibri"/>
                <a:cs typeface="Calibri"/>
              </a:rPr>
              <a:t>Any</a:t>
            </a:r>
            <a:r>
              <a:rPr sz="1800" spc="-15" dirty="0">
                <a:solidFill>
                  <a:schemeClr val="tx1"/>
                </a:solidFill>
                <a:latin typeface="Calibri"/>
                <a:cs typeface="Calibri"/>
              </a:rPr>
              <a:t> </a:t>
            </a:r>
            <a:r>
              <a:rPr sz="1800" b="1" dirty="0">
                <a:solidFill>
                  <a:schemeClr val="tx1"/>
                </a:solidFill>
                <a:latin typeface="Calibri"/>
                <a:cs typeface="Calibri"/>
              </a:rPr>
              <a:t>3</a:t>
            </a:r>
            <a:r>
              <a:rPr sz="1800" b="1" spc="-15" dirty="0">
                <a:solidFill>
                  <a:schemeClr val="tx1"/>
                </a:solidFill>
                <a:latin typeface="Calibri"/>
                <a:cs typeface="Calibri"/>
              </a:rPr>
              <a:t> </a:t>
            </a:r>
            <a:r>
              <a:rPr sz="1800" b="1" dirty="0">
                <a:solidFill>
                  <a:schemeClr val="tx1"/>
                </a:solidFill>
                <a:latin typeface="Calibri"/>
                <a:cs typeface="Calibri"/>
              </a:rPr>
              <a:t>Digit</a:t>
            </a:r>
            <a:r>
              <a:rPr sz="1800" b="1" spc="-20" dirty="0">
                <a:solidFill>
                  <a:schemeClr val="tx1"/>
                </a:solidFill>
                <a:latin typeface="Calibri"/>
                <a:cs typeface="Calibri"/>
              </a:rPr>
              <a:t> </a:t>
            </a:r>
            <a:r>
              <a:rPr sz="1800" b="1" dirty="0">
                <a:solidFill>
                  <a:schemeClr val="tx1"/>
                </a:solidFill>
                <a:latin typeface="Calibri"/>
                <a:cs typeface="Calibri"/>
              </a:rPr>
              <a:t>Number</a:t>
            </a:r>
            <a:r>
              <a:rPr sz="1800" b="1" spc="-40" dirty="0">
                <a:solidFill>
                  <a:schemeClr val="tx1"/>
                </a:solidFill>
                <a:latin typeface="Calibri"/>
                <a:cs typeface="Calibri"/>
              </a:rPr>
              <a:t> </a:t>
            </a:r>
            <a:r>
              <a:rPr sz="1800" b="1" spc="-15" dirty="0">
                <a:solidFill>
                  <a:schemeClr val="tx1"/>
                </a:solidFill>
                <a:latin typeface="Calibri"/>
                <a:cs typeface="Calibri"/>
              </a:rPr>
              <a:t>say</a:t>
            </a:r>
            <a:r>
              <a:rPr sz="1800" b="1" spc="-10" dirty="0">
                <a:solidFill>
                  <a:schemeClr val="tx1"/>
                </a:solidFill>
                <a:latin typeface="Calibri"/>
                <a:cs typeface="Calibri"/>
              </a:rPr>
              <a:t> </a:t>
            </a:r>
            <a:r>
              <a:rPr sz="1800" b="1" dirty="0">
                <a:solidFill>
                  <a:schemeClr val="tx1"/>
                </a:solidFill>
                <a:latin typeface="Calibri"/>
                <a:cs typeface="Calibri"/>
              </a:rPr>
              <a:t>-100</a:t>
            </a:r>
            <a:r>
              <a:rPr sz="1800" b="1" spc="-10" dirty="0">
                <a:solidFill>
                  <a:schemeClr val="tx1"/>
                </a:solidFill>
                <a:latin typeface="Calibri"/>
                <a:cs typeface="Calibri"/>
              </a:rPr>
              <a:t> </a:t>
            </a:r>
            <a:r>
              <a:rPr sz="1800" spc="-5" dirty="0">
                <a:solidFill>
                  <a:schemeClr val="tx1"/>
                </a:solidFill>
                <a:latin typeface="Calibri"/>
                <a:cs typeface="Calibri"/>
              </a:rPr>
              <a:t>is</a:t>
            </a:r>
            <a:r>
              <a:rPr sz="1800" spc="-15" dirty="0">
                <a:solidFill>
                  <a:schemeClr val="tx1"/>
                </a:solidFill>
                <a:latin typeface="Calibri"/>
                <a:cs typeface="Calibri"/>
              </a:rPr>
              <a:t> </a:t>
            </a:r>
            <a:r>
              <a:rPr sz="1800" spc="-10" dirty="0">
                <a:solidFill>
                  <a:schemeClr val="tx1"/>
                </a:solidFill>
                <a:latin typeface="Calibri"/>
                <a:cs typeface="Calibri"/>
              </a:rPr>
              <a:t>invalid.</a:t>
            </a:r>
            <a:endParaRPr sz="1800" dirty="0">
              <a:solidFill>
                <a:schemeClr val="tx1"/>
              </a:solidFill>
              <a:latin typeface="Calibri"/>
              <a:cs typeface="Calibri"/>
            </a:endParaRPr>
          </a:p>
        </p:txBody>
      </p:sp>
    </p:spTree>
    <p:extLst>
      <p:ext uri="{BB962C8B-B14F-4D97-AF65-F5344CB8AC3E}">
        <p14:creationId xmlns:p14="http://schemas.microsoft.com/office/powerpoint/2010/main" val="40674382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Equivalence and Boundary </a:t>
            </a:r>
            <a:r>
              <a:rPr lang="en-US" dirty="0" smtClean="0"/>
              <a:t>Value</a:t>
            </a:r>
            <a:endParaRPr lang="en-US" dirty="0"/>
          </a:p>
        </p:txBody>
      </p:sp>
      <p:grpSp>
        <p:nvGrpSpPr>
          <p:cNvPr id="7" name="object 3"/>
          <p:cNvGrpSpPr/>
          <p:nvPr/>
        </p:nvGrpSpPr>
        <p:grpSpPr>
          <a:xfrm>
            <a:off x="1676400" y="2057400"/>
            <a:ext cx="5581015" cy="4660900"/>
            <a:chOff x="3214116" y="1647444"/>
            <a:chExt cx="5581015" cy="4660900"/>
          </a:xfrm>
        </p:grpSpPr>
        <p:pic>
          <p:nvPicPr>
            <p:cNvPr id="8" name="object 4"/>
            <p:cNvPicPr/>
            <p:nvPr/>
          </p:nvPicPr>
          <p:blipFill>
            <a:blip r:embed="rId2" cstate="print"/>
            <a:stretch>
              <a:fillRect/>
            </a:stretch>
          </p:blipFill>
          <p:spPr>
            <a:xfrm>
              <a:off x="3214116" y="1647444"/>
              <a:ext cx="5580887" cy="2513075"/>
            </a:xfrm>
            <a:prstGeom prst="rect">
              <a:avLst/>
            </a:prstGeom>
          </p:spPr>
        </p:pic>
        <p:pic>
          <p:nvPicPr>
            <p:cNvPr id="9" name="object 5"/>
            <p:cNvPicPr/>
            <p:nvPr/>
          </p:nvPicPr>
          <p:blipFill>
            <a:blip r:embed="rId3" cstate="print"/>
            <a:stretch>
              <a:fillRect/>
            </a:stretch>
          </p:blipFill>
          <p:spPr>
            <a:xfrm>
              <a:off x="3265932" y="4070604"/>
              <a:ext cx="5477256" cy="2237232"/>
            </a:xfrm>
            <a:prstGeom prst="rect">
              <a:avLst/>
            </a:prstGeom>
          </p:spPr>
        </p:pic>
      </p:grpSp>
    </p:spTree>
    <p:extLst>
      <p:ext uri="{BB962C8B-B14F-4D97-AF65-F5344CB8AC3E}">
        <p14:creationId xmlns:p14="http://schemas.microsoft.com/office/powerpoint/2010/main" val="25088579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fontScale="90000"/>
          </a:bodyPr>
          <a:lstStyle/>
          <a:p>
            <a:pPr eaLnBrk="1" hangingPunct="1"/>
            <a:r>
              <a:rPr lang="en-US" dirty="0" smtClean="0"/>
              <a:t/>
            </a:r>
            <a:br>
              <a:rPr lang="en-US" dirty="0" smtClean="0"/>
            </a:br>
            <a:r>
              <a:rPr lang="en-US" dirty="0" smtClean="0"/>
              <a:t>Levels of Testing</a:t>
            </a:r>
            <a:endParaRPr lang="en-US" sz="2800" dirty="0" smtClean="0"/>
          </a:p>
        </p:txBody>
      </p:sp>
      <p:sp>
        <p:nvSpPr>
          <p:cNvPr id="11267" name="Rectangle 3"/>
          <p:cNvSpPr>
            <a:spLocks noGrp="1" noChangeArrowheads="1"/>
          </p:cNvSpPr>
          <p:nvPr>
            <p:ph idx="1"/>
          </p:nvPr>
        </p:nvSpPr>
        <p:spPr/>
        <p:txBody>
          <a:bodyPr/>
          <a:lstStyle/>
          <a:p>
            <a:pPr eaLnBrk="1" hangingPunct="1"/>
            <a:r>
              <a:rPr lang="en-US" dirty="0" smtClean="0"/>
              <a:t>Module testing, component testing, or unit testing</a:t>
            </a:r>
          </a:p>
          <a:p>
            <a:pPr eaLnBrk="1" hangingPunct="1"/>
            <a:r>
              <a:rPr lang="en-US" dirty="0" smtClean="0"/>
              <a:t>Integration testing</a:t>
            </a:r>
          </a:p>
          <a:p>
            <a:pPr eaLnBrk="1" hangingPunct="1"/>
            <a:r>
              <a:rPr lang="en-US" dirty="0" smtClean="0"/>
              <a:t>System Testing</a:t>
            </a:r>
          </a:p>
          <a:p>
            <a:pPr lvl="1" eaLnBrk="1" hangingPunct="1"/>
            <a:r>
              <a:rPr lang="en-US" dirty="0" smtClean="0"/>
              <a:t>Function testing</a:t>
            </a:r>
          </a:p>
          <a:p>
            <a:pPr lvl="1" eaLnBrk="1" hangingPunct="1"/>
            <a:r>
              <a:rPr lang="en-US" dirty="0" smtClean="0"/>
              <a:t>Performance testing</a:t>
            </a:r>
          </a:p>
          <a:p>
            <a:pPr eaLnBrk="1" hangingPunct="1"/>
            <a:r>
              <a:rPr lang="en-US" dirty="0" smtClean="0"/>
              <a:t>Acceptance testing</a:t>
            </a:r>
          </a:p>
          <a:p>
            <a:pPr eaLnBrk="1" hangingPunct="1"/>
            <a:r>
              <a:rPr lang="en-US" dirty="0" smtClean="0"/>
              <a:t>Installation testing</a:t>
            </a:r>
          </a:p>
        </p:txBody>
      </p:sp>
    </p:spTree>
    <p:extLst>
      <p:ext uri="{BB962C8B-B14F-4D97-AF65-F5344CB8AC3E}">
        <p14:creationId xmlns:p14="http://schemas.microsoft.com/office/powerpoint/2010/main" val="3207543090"/>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normAutofit fontScale="90000"/>
          </a:bodyPr>
          <a:lstStyle/>
          <a:p>
            <a:pPr eaLnBrk="1" hangingPunct="1"/>
            <a:r>
              <a:rPr lang="en-US" dirty="0" smtClean="0"/>
              <a:t>Levels of Testing</a:t>
            </a:r>
            <a:br>
              <a:rPr lang="en-US" dirty="0" smtClean="0"/>
            </a:br>
            <a:r>
              <a:rPr lang="en-US" sz="2800" dirty="0" smtClean="0"/>
              <a:t>Testing Organization Illustrated</a:t>
            </a:r>
          </a:p>
        </p:txBody>
      </p:sp>
      <p:pic>
        <p:nvPicPr>
          <p:cNvPr id="12292" name="Picture 4" descr="Slide3"/>
          <p:cNvPicPr>
            <a:picLocks noChangeAspect="1" noChangeArrowheads="1"/>
          </p:cNvPicPr>
          <p:nvPr/>
        </p:nvPicPr>
        <p:blipFill>
          <a:blip r:embed="rId3" cstate="print"/>
          <a:srcRect/>
          <a:stretch>
            <a:fillRect/>
          </a:stretch>
        </p:blipFill>
        <p:spPr bwMode="auto">
          <a:xfrm>
            <a:off x="1066800" y="1905000"/>
            <a:ext cx="7315200" cy="4787900"/>
          </a:xfrm>
          <a:prstGeom prst="rect">
            <a:avLst/>
          </a:prstGeom>
          <a:noFill/>
          <a:ln w="9525">
            <a:noFill/>
            <a:miter lim="800000"/>
            <a:headEnd/>
            <a:tailEnd/>
          </a:ln>
        </p:spPr>
      </p:pic>
    </p:spTree>
    <p:extLst>
      <p:ext uri="{BB962C8B-B14F-4D97-AF65-F5344CB8AC3E}">
        <p14:creationId xmlns:p14="http://schemas.microsoft.com/office/powerpoint/2010/main" val="4293510820"/>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fontScale="90000"/>
          </a:bodyPr>
          <a:lstStyle/>
          <a:p>
            <a:pPr eaLnBrk="1" hangingPunct="1"/>
            <a:r>
              <a:rPr lang="en-US" dirty="0" smtClean="0"/>
              <a:t>Unit Testing</a:t>
            </a:r>
            <a:br>
              <a:rPr lang="en-US" dirty="0" smtClean="0"/>
            </a:br>
            <a:r>
              <a:rPr lang="en-US" sz="2800" dirty="0" smtClean="0"/>
              <a:t>Code Review</a:t>
            </a:r>
          </a:p>
        </p:txBody>
      </p:sp>
      <p:sp>
        <p:nvSpPr>
          <p:cNvPr id="18435" name="Rectangle 3"/>
          <p:cNvSpPr>
            <a:spLocks noGrp="1" noChangeArrowheads="1"/>
          </p:cNvSpPr>
          <p:nvPr>
            <p:ph idx="1"/>
          </p:nvPr>
        </p:nvSpPr>
        <p:spPr/>
        <p:txBody>
          <a:bodyPr/>
          <a:lstStyle/>
          <a:p>
            <a:r>
              <a:rPr lang="en-US" dirty="0"/>
              <a:t>Code walkthrough</a:t>
            </a:r>
          </a:p>
          <a:p>
            <a:pPr lvl="1"/>
            <a:r>
              <a:rPr lang="en-US" sz="2800" dirty="0"/>
              <a:t>In a </a:t>
            </a:r>
            <a:r>
              <a:rPr lang="en-US" sz="2800" b="1" dirty="0"/>
              <a:t>walkthrough</a:t>
            </a:r>
            <a:r>
              <a:rPr lang="en-US" sz="2800" dirty="0"/>
              <a:t>, you present your code and accompanying documentation to the review team, and the team comments on their correctness.</a:t>
            </a:r>
          </a:p>
          <a:p>
            <a:r>
              <a:rPr lang="en-US" dirty="0"/>
              <a:t>Code inspection</a:t>
            </a:r>
          </a:p>
          <a:p>
            <a:pPr lvl="1"/>
            <a:r>
              <a:rPr lang="en-US" sz="2800" dirty="0"/>
              <a:t>In an </a:t>
            </a:r>
            <a:r>
              <a:rPr lang="en-US" sz="2800" b="1" dirty="0"/>
              <a:t>inspection</a:t>
            </a:r>
            <a:r>
              <a:rPr lang="en-US" sz="2800" dirty="0"/>
              <a:t>, the review team checks the code and documentation against a prepared list of concerns. It is more formal.</a:t>
            </a:r>
          </a:p>
          <a:p>
            <a:pPr eaLnBrk="1" hangingPunct="1"/>
            <a:endParaRPr lang="en-US" dirty="0" smtClean="0"/>
          </a:p>
        </p:txBody>
      </p:sp>
    </p:spTree>
    <p:extLst>
      <p:ext uri="{BB962C8B-B14F-4D97-AF65-F5344CB8AC3E}">
        <p14:creationId xmlns:p14="http://schemas.microsoft.com/office/powerpoint/2010/main" val="2609683634"/>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990600"/>
            <a:ext cx="8229600" cy="1143000"/>
          </a:xfrm>
        </p:spPr>
        <p:txBody>
          <a:bodyPr lIns="92075" tIns="46038" rIns="92075" bIns="46038">
            <a:normAutofit fontScale="90000"/>
          </a:bodyPr>
          <a:lstStyle/>
          <a:p>
            <a:pPr eaLnBrk="1" hangingPunct="1"/>
            <a:r>
              <a:rPr lang="en-US" dirty="0" smtClean="0"/>
              <a:t>Unit Testing</a:t>
            </a:r>
            <a:br>
              <a:rPr lang="en-US" dirty="0" smtClean="0"/>
            </a:br>
            <a:r>
              <a:rPr lang="en-US" sz="2800" dirty="0" smtClean="0"/>
              <a:t>Steps in Testing</a:t>
            </a:r>
            <a:r>
              <a:rPr lang="en-US" dirty="0" smtClean="0"/>
              <a:t> </a:t>
            </a:r>
            <a:endParaRPr lang="en-US" sz="2800" dirty="0" smtClean="0"/>
          </a:p>
        </p:txBody>
      </p:sp>
      <p:sp>
        <p:nvSpPr>
          <p:cNvPr id="20483" name="Rectangle 3"/>
          <p:cNvSpPr>
            <a:spLocks noGrp="1" noChangeArrowheads="1"/>
          </p:cNvSpPr>
          <p:nvPr>
            <p:ph idx="1"/>
          </p:nvPr>
        </p:nvSpPr>
        <p:spPr>
          <a:xfrm>
            <a:off x="457200" y="2240280"/>
            <a:ext cx="8229600" cy="2712720"/>
          </a:xfrm>
        </p:spPr>
        <p:txBody>
          <a:bodyPr lIns="92075" tIns="46038" rIns="92075" bIns="46038"/>
          <a:lstStyle/>
          <a:p>
            <a:pPr eaLnBrk="1" hangingPunct="1"/>
            <a:r>
              <a:rPr lang="en-US" dirty="0" smtClean="0"/>
              <a:t>Determining test objectives</a:t>
            </a:r>
          </a:p>
          <a:p>
            <a:pPr eaLnBrk="1" hangingPunct="1"/>
            <a:r>
              <a:rPr lang="en-US" dirty="0" smtClean="0"/>
              <a:t>Selecting test cases</a:t>
            </a:r>
          </a:p>
          <a:p>
            <a:pPr eaLnBrk="1" hangingPunct="1"/>
            <a:r>
              <a:rPr lang="en-US" dirty="0" smtClean="0"/>
              <a:t>Executing test cases </a:t>
            </a:r>
          </a:p>
        </p:txBody>
      </p:sp>
    </p:spTree>
    <p:extLst>
      <p:ext uri="{BB962C8B-B14F-4D97-AF65-F5344CB8AC3E}">
        <p14:creationId xmlns:p14="http://schemas.microsoft.com/office/powerpoint/2010/main" val="410653294"/>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lIns="92075" tIns="46038" rIns="92075" bIns="46038"/>
          <a:lstStyle/>
          <a:p>
            <a:pPr eaLnBrk="1" hangingPunct="1"/>
            <a:r>
              <a:rPr lang="en-US" dirty="0" smtClean="0"/>
              <a:t>Unit Testing</a:t>
            </a:r>
            <a:endParaRPr lang="en-US" sz="2800" dirty="0" smtClean="0"/>
          </a:p>
        </p:txBody>
      </p:sp>
      <mc:AlternateContent xmlns:mc="http://schemas.openxmlformats.org/markup-compatibility/2006">
        <mc:Choice xmlns:a14="http://schemas.microsoft.com/office/drawing/2010/main" Requires="a14">
          <p:sp>
            <p:nvSpPr>
              <p:cNvPr id="19459" name="Rectangle 3"/>
              <p:cNvSpPr>
                <a:spLocks noGrp="1" noChangeArrowheads="1"/>
              </p:cNvSpPr>
              <p:nvPr>
                <p:ph idx="1"/>
              </p:nvPr>
            </p:nvSpPr>
            <p:spPr/>
            <p:txBody>
              <a:bodyPr lIns="92075" tIns="46038" rIns="92075" bIns="46038">
                <a:normAutofit fontScale="62500" lnSpcReduction="20000"/>
              </a:bodyPr>
              <a:lstStyle/>
              <a:p>
                <a:r>
                  <a:rPr lang="en-US" sz="2800" b="1" dirty="0"/>
                  <a:t>Statement testing: </a:t>
                </a:r>
                <a:r>
                  <a:rPr lang="en-US" sz="2800" dirty="0"/>
                  <a:t>Every statement in the component is executed at least once in some test.</a:t>
                </a:r>
              </a:p>
              <a:p>
                <a:pPr marL="0" indent="0" algn="ctr">
                  <a:buNone/>
                </a:pPr>
                <a:r>
                  <a:rPr lang="en-US" dirty="0">
                    <a:latin typeface="Cambria Math" panose="02040503050406030204" pitchFamily="18" charset="0"/>
                  </a:rPr>
                  <a:t>Statement coverage (%) </a:t>
                </a:r>
                <a:r>
                  <a:rPr lang="en-US" i="1" dirty="0">
                    <a:latin typeface="Cambria Math" panose="02040503050406030204" pitchFamily="18" charset="0"/>
                  </a:rPr>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𝑁𝑢𝑚𝑏𝑒𝑟</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𝑒𝑥𝑒𝑐𝑢𝑡𝑒𝑑</m:t>
                        </m:r>
                        <m:r>
                          <a:rPr lang="en-US" i="1">
                            <a:latin typeface="Cambria Math" panose="02040503050406030204" pitchFamily="18" charset="0"/>
                          </a:rPr>
                          <m:t> </m:t>
                        </m:r>
                        <m:r>
                          <a:rPr lang="en-US" i="1">
                            <a:latin typeface="Cambria Math" panose="02040503050406030204" pitchFamily="18" charset="0"/>
                          </a:rPr>
                          <m:t>𝑠𝑡𝑎𝑡𝑒𝑚𝑒𝑛𝑡𝑠</m:t>
                        </m:r>
                      </m:num>
                      <m:den>
                        <m:r>
                          <a:rPr lang="en-US" i="1">
                            <a:latin typeface="Cambria Math" panose="02040503050406030204" pitchFamily="18" charset="0"/>
                          </a:rPr>
                          <m:t>𝑇𝑜𝑡𝑎𝑙</m:t>
                        </m:r>
                        <m:r>
                          <a:rPr lang="en-US" i="1">
                            <a:latin typeface="Cambria Math" panose="02040503050406030204" pitchFamily="18" charset="0"/>
                          </a:rPr>
                          <m:t> </m:t>
                        </m:r>
                        <m:r>
                          <a:rPr lang="en-US" i="1">
                            <a:latin typeface="Cambria Math" panose="02040503050406030204" pitchFamily="18" charset="0"/>
                          </a:rPr>
                          <m:t>𝑛𝑢𝑚𝑏𝑒𝑟</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𝑠𝑡𝑎𝑡𝑒𝑚𝑒𝑛𝑡𝑠</m:t>
                        </m:r>
                      </m:den>
                    </m:f>
                  </m:oMath>
                </a14:m>
                <a:r>
                  <a:rPr lang="en-US" i="1" dirty="0">
                    <a:latin typeface="Cambria Math" panose="02040503050406030204" pitchFamily="18" charset="0"/>
                  </a:rPr>
                  <a:t>x 100 </a:t>
                </a:r>
              </a:p>
              <a:p>
                <a:r>
                  <a:rPr lang="en-US" sz="2800" b="1" dirty="0"/>
                  <a:t>Branch testing: </a:t>
                </a:r>
                <a:r>
                  <a:rPr lang="en-US" sz="2800" dirty="0"/>
                  <a:t>For every decision point in the code, each branch is chosen at least once in some test.</a:t>
                </a:r>
              </a:p>
              <a:p>
                <a:pPr marL="0" indent="0" algn="ctr">
                  <a:buNone/>
                </a:pPr>
                <a:r>
                  <a:rPr lang="en-US" dirty="0">
                    <a:latin typeface="Cambria Math" panose="02040503050406030204" pitchFamily="18" charset="0"/>
                  </a:rPr>
                  <a:t>Branch coverage (%) </a:t>
                </a:r>
                <a:r>
                  <a:rPr lang="en-US" i="1" dirty="0">
                    <a:latin typeface="Cambria Math" panose="02040503050406030204" pitchFamily="18" charset="0"/>
                  </a:rPr>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𝑁𝑢𝑚𝑏𝑒𝑟</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𝑒𝑥𝑒𝑐𝑢𝑡𝑒𝑑</m:t>
                        </m:r>
                        <m:r>
                          <a:rPr lang="en-US" i="1">
                            <a:latin typeface="Cambria Math" panose="02040503050406030204" pitchFamily="18" charset="0"/>
                          </a:rPr>
                          <m:t> </m:t>
                        </m:r>
                        <m:r>
                          <a:rPr lang="en-US" i="1">
                            <a:latin typeface="Cambria Math" panose="02040503050406030204" pitchFamily="18" charset="0"/>
                          </a:rPr>
                          <m:t>𝑏𝑟𝑎𝑛𝑐h𝑒𝑠</m:t>
                        </m:r>
                      </m:num>
                      <m:den>
                        <m:r>
                          <a:rPr lang="en-US" i="1">
                            <a:latin typeface="Cambria Math" panose="02040503050406030204" pitchFamily="18" charset="0"/>
                          </a:rPr>
                          <m:t>𝑇𝑜𝑡𝑎𝑙</m:t>
                        </m:r>
                        <m:r>
                          <a:rPr lang="en-US" i="1">
                            <a:latin typeface="Cambria Math" panose="02040503050406030204" pitchFamily="18" charset="0"/>
                          </a:rPr>
                          <m:t> </m:t>
                        </m:r>
                        <m:r>
                          <a:rPr lang="en-US" i="1">
                            <a:latin typeface="Cambria Math" panose="02040503050406030204" pitchFamily="18" charset="0"/>
                          </a:rPr>
                          <m:t>𝑛𝑢𝑚𝑏𝑒𝑟</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𝑏𝑟𝑎𝑛𝑐h𝑒𝑠</m:t>
                        </m:r>
                      </m:den>
                    </m:f>
                  </m:oMath>
                </a14:m>
                <a:r>
                  <a:rPr lang="en-US" i="1" dirty="0">
                    <a:latin typeface="Cambria Math" panose="02040503050406030204" pitchFamily="18" charset="0"/>
                  </a:rPr>
                  <a:t> x 100 </a:t>
                </a:r>
              </a:p>
              <a:p>
                <a:r>
                  <a:rPr lang="en-US" sz="2800" b="1" dirty="0"/>
                  <a:t>Path testing: </a:t>
                </a:r>
                <a:r>
                  <a:rPr lang="en-US" sz="2800" dirty="0"/>
                  <a:t>Ensures that every possible path through the code is executed at least once in some test case.</a:t>
                </a:r>
              </a:p>
              <a:p>
                <a:pPr marL="0" indent="0" algn="ctr">
                  <a:buNone/>
                </a:pPr>
                <a:r>
                  <a:rPr lang="en-US" dirty="0" smtClean="0">
                    <a:latin typeface="Cambria Math" panose="02040503050406030204" pitchFamily="18" charset="0"/>
                  </a:rPr>
                  <a:t>Path </a:t>
                </a:r>
                <a:r>
                  <a:rPr lang="en-US" dirty="0">
                    <a:latin typeface="Cambria Math" panose="02040503050406030204" pitchFamily="18" charset="0"/>
                  </a:rPr>
                  <a:t>coverage (%) </a:t>
                </a:r>
                <a:r>
                  <a:rPr lang="en-US" i="1" dirty="0">
                    <a:latin typeface="Cambria Math" panose="02040503050406030204" pitchFamily="18" charset="0"/>
                  </a:rPr>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𝑁𝑢𝑚𝑏𝑒𝑟</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𝑒𝑥𝑒𝑐𝑢𝑡𝑖𝑜𝑛</m:t>
                        </m:r>
                        <m:r>
                          <a:rPr lang="en-US" i="1">
                            <a:latin typeface="Cambria Math" panose="02040503050406030204" pitchFamily="18" charset="0"/>
                          </a:rPr>
                          <m:t> </m:t>
                        </m:r>
                        <m:r>
                          <a:rPr lang="en-US" i="1">
                            <a:latin typeface="Cambria Math" panose="02040503050406030204" pitchFamily="18" charset="0"/>
                          </a:rPr>
                          <m:t>𝑝𝑎𝑡h𝑠</m:t>
                        </m:r>
                        <m:r>
                          <a:rPr lang="en-US" i="1">
                            <a:latin typeface="Cambria Math" panose="02040503050406030204" pitchFamily="18" charset="0"/>
                          </a:rPr>
                          <m:t> </m:t>
                        </m:r>
                        <m:r>
                          <a:rPr lang="en-US" i="1">
                            <a:latin typeface="Cambria Math" panose="02040503050406030204" pitchFamily="18" charset="0"/>
                          </a:rPr>
                          <m:t>𝑒𝑥𝑒𝑐𝑢𝑡𝑒𝑑</m:t>
                        </m:r>
                      </m:num>
                      <m:den>
                        <m:r>
                          <a:rPr lang="en-US" i="1">
                            <a:latin typeface="Cambria Math" panose="02040503050406030204" pitchFamily="18" charset="0"/>
                          </a:rPr>
                          <m:t>𝑇𝑜𝑡𝑎𝑙</m:t>
                        </m:r>
                        <m:r>
                          <a:rPr lang="en-US" i="1">
                            <a:latin typeface="Cambria Math" panose="02040503050406030204" pitchFamily="18" charset="0"/>
                          </a:rPr>
                          <m:t> </m:t>
                        </m:r>
                        <m:r>
                          <a:rPr lang="en-US" i="1">
                            <a:latin typeface="Cambria Math" panose="02040503050406030204" pitchFamily="18" charset="0"/>
                          </a:rPr>
                          <m:t>𝑛𝑢𝑚𝑏𝑒𝑟</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𝑒𝑥𝑒𝑐𝑢𝑡𝑖𝑜𝑛</m:t>
                        </m:r>
                        <m:r>
                          <a:rPr lang="en-US" i="1">
                            <a:latin typeface="Cambria Math" panose="02040503050406030204" pitchFamily="18" charset="0"/>
                          </a:rPr>
                          <m:t> </m:t>
                        </m:r>
                        <m:r>
                          <a:rPr lang="en-US" i="1">
                            <a:latin typeface="Cambria Math" panose="02040503050406030204" pitchFamily="18" charset="0"/>
                          </a:rPr>
                          <m:t>𝑝𝑎𝑡h𝑠</m:t>
                        </m:r>
                      </m:den>
                    </m:f>
                  </m:oMath>
                </a14:m>
                <a:r>
                  <a:rPr lang="en-US" i="1" dirty="0">
                    <a:latin typeface="Cambria Math" panose="02040503050406030204" pitchFamily="18" charset="0"/>
                  </a:rPr>
                  <a:t> x </a:t>
                </a:r>
                <a:r>
                  <a:rPr lang="en-US" i="1" dirty="0" smtClean="0">
                    <a:latin typeface="Cambria Math" panose="02040503050406030204" pitchFamily="18" charset="0"/>
                  </a:rPr>
                  <a:t>100</a:t>
                </a:r>
              </a:p>
              <a:p>
                <a:r>
                  <a:rPr lang="en-US" b="1" dirty="0"/>
                  <a:t>Basis Path testing:</a:t>
                </a:r>
                <a:r>
                  <a:rPr lang="en-US" dirty="0"/>
                  <a:t> It is a subset of path testing, where the goal is to identify and test a minimal set of independent paths that can cover all the possible decision points in the program.</a:t>
                </a:r>
              </a:p>
              <a:p>
                <a:pPr marL="0" indent="0" algn="ctr">
                  <a:buNone/>
                </a:pPr>
                <a:r>
                  <a:rPr lang="en-US" sz="2400" dirty="0">
                    <a:latin typeface="Cambria Math" panose="02040503050406030204" pitchFamily="18" charset="0"/>
                  </a:rPr>
                  <a:t>Basis Path coverage (%) </a:t>
                </a:r>
                <a:r>
                  <a:rPr lang="en-US" sz="2400" i="1" dirty="0">
                    <a:latin typeface="Cambria Math" panose="02040503050406030204" pitchFamily="18" charset="0"/>
                  </a:rPr>
                  <a:t>=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𝑁𝑢𝑚𝑏𝑒𝑟</m:t>
                        </m:r>
                        <m:r>
                          <a:rPr lang="en-US" sz="2400" i="1">
                            <a:latin typeface="Cambria Math" panose="02040503050406030204" pitchFamily="18" charset="0"/>
                          </a:rPr>
                          <m:t> </m:t>
                        </m:r>
                        <m:r>
                          <a:rPr lang="en-US" sz="2400" i="1">
                            <a:latin typeface="Cambria Math" panose="02040503050406030204" pitchFamily="18" charset="0"/>
                          </a:rPr>
                          <m:t>𝑜𝑓</m:t>
                        </m:r>
                        <m:r>
                          <a:rPr lang="en-US" sz="2400" i="1">
                            <a:latin typeface="Cambria Math" panose="02040503050406030204" pitchFamily="18" charset="0"/>
                          </a:rPr>
                          <m:t> </m:t>
                        </m:r>
                        <m:r>
                          <a:rPr lang="en-US" sz="2400" i="1">
                            <a:latin typeface="Cambria Math" panose="02040503050406030204" pitchFamily="18" charset="0"/>
                          </a:rPr>
                          <m:t>𝑖𝑛𝑑𝑒𝑝𝑒𝑛𝑑𝑒𝑛𝑡</m:t>
                        </m:r>
                        <m:r>
                          <a:rPr lang="en-US" sz="2400" i="1">
                            <a:latin typeface="Cambria Math" panose="02040503050406030204" pitchFamily="18" charset="0"/>
                          </a:rPr>
                          <m:t> </m:t>
                        </m:r>
                        <m:r>
                          <a:rPr lang="en-US" sz="2400" i="1">
                            <a:latin typeface="Cambria Math" panose="02040503050406030204" pitchFamily="18" charset="0"/>
                          </a:rPr>
                          <m:t>𝑝𝑎𝑡h𝑠</m:t>
                        </m:r>
                        <m:r>
                          <a:rPr lang="en-US" sz="2400" i="1">
                            <a:latin typeface="Cambria Math" panose="02040503050406030204" pitchFamily="18" charset="0"/>
                          </a:rPr>
                          <m:t> </m:t>
                        </m:r>
                        <m:r>
                          <a:rPr lang="en-US" sz="2400" i="1">
                            <a:latin typeface="Cambria Math" panose="02040503050406030204" pitchFamily="18" charset="0"/>
                          </a:rPr>
                          <m:t>𝑒𝑥𝑒𝑐𝑢𝑡𝑒𝑑</m:t>
                        </m:r>
                        <m:r>
                          <a:rPr lang="en-US" sz="2400" i="1">
                            <a:latin typeface="Cambria Math" panose="02040503050406030204" pitchFamily="18" charset="0"/>
                          </a:rPr>
                          <m:t> </m:t>
                        </m:r>
                      </m:num>
                      <m:den>
                        <m:r>
                          <a:rPr lang="en-US" sz="2400" i="1">
                            <a:latin typeface="Cambria Math" panose="02040503050406030204" pitchFamily="18" charset="0"/>
                          </a:rPr>
                          <m:t>𝑇𝑜𝑡𝑎𝑙</m:t>
                        </m:r>
                        <m:r>
                          <a:rPr lang="en-US" sz="2400" i="1">
                            <a:latin typeface="Cambria Math" panose="02040503050406030204" pitchFamily="18" charset="0"/>
                          </a:rPr>
                          <m:t> </m:t>
                        </m:r>
                        <m:r>
                          <a:rPr lang="en-US" sz="2400" i="1">
                            <a:latin typeface="Cambria Math" panose="02040503050406030204" pitchFamily="18" charset="0"/>
                          </a:rPr>
                          <m:t>𝑛𝑢𝑚𝑏𝑒𝑟</m:t>
                        </m:r>
                        <m:r>
                          <a:rPr lang="en-US" sz="2400" i="1">
                            <a:latin typeface="Cambria Math" panose="02040503050406030204" pitchFamily="18" charset="0"/>
                          </a:rPr>
                          <m:t> </m:t>
                        </m:r>
                        <m:r>
                          <a:rPr lang="en-US" sz="2400" i="1">
                            <a:latin typeface="Cambria Math" panose="02040503050406030204" pitchFamily="18" charset="0"/>
                          </a:rPr>
                          <m:t>𝑜𝑓</m:t>
                        </m:r>
                        <m:r>
                          <a:rPr lang="en-US" sz="2400" i="1">
                            <a:latin typeface="Cambria Math" panose="02040503050406030204" pitchFamily="18" charset="0"/>
                          </a:rPr>
                          <m:t> </m:t>
                        </m:r>
                        <m:r>
                          <a:rPr lang="en-US" sz="2400" i="1">
                            <a:latin typeface="Cambria Math" panose="02040503050406030204" pitchFamily="18" charset="0"/>
                          </a:rPr>
                          <m:t>𝑖𝑛𝑑𝑒𝑝𝑒𝑛𝑑𝑒𝑛𝑡</m:t>
                        </m:r>
                        <m:r>
                          <a:rPr lang="en-US" sz="2400" i="1">
                            <a:latin typeface="Cambria Math" panose="02040503050406030204" pitchFamily="18" charset="0"/>
                          </a:rPr>
                          <m:t> </m:t>
                        </m:r>
                        <m:r>
                          <a:rPr lang="en-US" sz="2400" i="1">
                            <a:latin typeface="Cambria Math" panose="02040503050406030204" pitchFamily="18" charset="0"/>
                          </a:rPr>
                          <m:t>𝑝𝑎𝑡h𝑠</m:t>
                        </m:r>
                      </m:den>
                    </m:f>
                  </m:oMath>
                </a14:m>
                <a:r>
                  <a:rPr lang="en-US" sz="2400" i="1" dirty="0">
                    <a:latin typeface="Cambria Math" panose="02040503050406030204" pitchFamily="18" charset="0"/>
                  </a:rPr>
                  <a:t> x 100 </a:t>
                </a:r>
              </a:p>
              <a:p>
                <a:endParaRPr lang="en-US" dirty="0"/>
              </a:p>
              <a:p>
                <a:pPr marL="0" indent="0">
                  <a:buNone/>
                </a:pPr>
                <a:r>
                  <a:rPr lang="en-US" i="1" dirty="0" smtClean="0">
                    <a:latin typeface="Cambria Math" panose="02040503050406030204" pitchFamily="18" charset="0"/>
                  </a:rPr>
                  <a:t> </a:t>
                </a:r>
                <a:endParaRPr lang="en-US" i="1" dirty="0">
                  <a:latin typeface="Cambria Math" panose="02040503050406030204" pitchFamily="18" charset="0"/>
                </a:endParaRPr>
              </a:p>
            </p:txBody>
          </p:sp>
        </mc:Choice>
        <mc:Fallback>
          <p:sp>
            <p:nvSpPr>
              <p:cNvPr id="19459" name="Rectangle 3"/>
              <p:cNvSpPr>
                <a:spLocks noGrp="1" noRot="1" noChangeAspect="1" noMove="1" noResize="1" noEditPoints="1" noAdjustHandles="1" noChangeArrowheads="1" noChangeShapeType="1" noTextEdit="1"/>
              </p:cNvSpPr>
              <p:nvPr>
                <p:ph idx="1"/>
              </p:nvPr>
            </p:nvSpPr>
            <p:spPr>
              <a:blipFill rotWithShape="0">
                <a:blip r:embed="rId3"/>
                <a:stretch>
                  <a:fillRect l="-296" t="-1944" r="-74"/>
                </a:stretch>
              </a:blipFill>
            </p:spPr>
            <p:txBody>
              <a:bodyPr/>
              <a:lstStyle/>
              <a:p>
                <a:r>
                  <a:rPr lang="en-GB">
                    <a:noFill/>
                  </a:rPr>
                  <a:t> </a:t>
                </a:r>
              </a:p>
            </p:txBody>
          </p:sp>
        </mc:Fallback>
      </mc:AlternateContent>
    </p:spTree>
    <p:extLst>
      <p:ext uri="{BB962C8B-B14F-4D97-AF65-F5344CB8AC3E}">
        <p14:creationId xmlns:p14="http://schemas.microsoft.com/office/powerpoint/2010/main" val="2606414824"/>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lIns="92075" tIns="46038" rIns="92075" bIns="46038"/>
          <a:lstStyle/>
          <a:p>
            <a:pPr eaLnBrk="1" hangingPunct="1"/>
            <a:r>
              <a:rPr lang="en-US" dirty="0" smtClean="0"/>
              <a:t>Integration Testing</a:t>
            </a:r>
          </a:p>
        </p:txBody>
      </p:sp>
      <p:sp>
        <p:nvSpPr>
          <p:cNvPr id="27651" name="Rectangle 3"/>
          <p:cNvSpPr>
            <a:spLocks noGrp="1" noChangeArrowheads="1"/>
          </p:cNvSpPr>
          <p:nvPr>
            <p:ph idx="1"/>
          </p:nvPr>
        </p:nvSpPr>
        <p:spPr/>
        <p:txBody>
          <a:bodyPr lIns="92075" tIns="46038" rIns="92075" bIns="46038"/>
          <a:lstStyle/>
          <a:p>
            <a:pPr eaLnBrk="1" hangingPunct="1"/>
            <a:r>
              <a:rPr lang="en-US" smtClean="0"/>
              <a:t>Big-bang </a:t>
            </a:r>
          </a:p>
          <a:p>
            <a:pPr eaLnBrk="1" hangingPunct="1"/>
            <a:r>
              <a:rPr lang="en-US" smtClean="0"/>
              <a:t>Bottom-up</a:t>
            </a:r>
          </a:p>
          <a:p>
            <a:pPr eaLnBrk="1" hangingPunct="1"/>
            <a:r>
              <a:rPr lang="en-US" smtClean="0"/>
              <a:t>Top-down</a:t>
            </a:r>
          </a:p>
          <a:p>
            <a:pPr eaLnBrk="1" hangingPunct="1"/>
            <a:r>
              <a:rPr lang="en-US" smtClean="0"/>
              <a:t>Sandwich testing</a:t>
            </a:r>
          </a:p>
        </p:txBody>
      </p:sp>
    </p:spTree>
    <p:extLst>
      <p:ext uri="{BB962C8B-B14F-4D97-AF65-F5344CB8AC3E}">
        <p14:creationId xmlns:p14="http://schemas.microsoft.com/office/powerpoint/2010/main" val="3385105328"/>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lIns="92075" tIns="46038" rIns="92075" bIns="46038">
            <a:normAutofit fontScale="90000"/>
          </a:bodyPr>
          <a:lstStyle/>
          <a:p>
            <a:pPr eaLnBrk="1" hangingPunct="1"/>
            <a:r>
              <a:rPr lang="en-US" dirty="0" smtClean="0"/>
              <a:t>Integration Testing</a:t>
            </a:r>
            <a:br>
              <a:rPr lang="en-US" dirty="0" smtClean="0"/>
            </a:br>
            <a:r>
              <a:rPr lang="en-US" sz="2800" dirty="0" smtClean="0"/>
              <a:t>Terminology</a:t>
            </a:r>
          </a:p>
        </p:txBody>
      </p:sp>
      <p:sp>
        <p:nvSpPr>
          <p:cNvPr id="28675" name="Rectangle 3"/>
          <p:cNvSpPr>
            <a:spLocks noGrp="1" noChangeArrowheads="1"/>
          </p:cNvSpPr>
          <p:nvPr>
            <p:ph idx="1"/>
          </p:nvPr>
        </p:nvSpPr>
        <p:spPr/>
        <p:txBody>
          <a:bodyPr lIns="92075" tIns="46038" rIns="92075" bIns="46038"/>
          <a:lstStyle/>
          <a:p>
            <a:pPr eaLnBrk="1" hangingPunct="1"/>
            <a:r>
              <a:rPr lang="en-US" smtClean="0"/>
              <a:t>Component Driver: a routine that calls a particular component and passes a test case to it</a:t>
            </a:r>
          </a:p>
          <a:p>
            <a:pPr eaLnBrk="1" hangingPunct="1"/>
            <a:r>
              <a:rPr lang="en-US" smtClean="0"/>
              <a:t>Stub: a special-purpose program to simulate the activity of the missing component</a:t>
            </a:r>
          </a:p>
        </p:txBody>
      </p:sp>
    </p:spTree>
    <p:extLst>
      <p:ext uri="{BB962C8B-B14F-4D97-AF65-F5344CB8AC3E}">
        <p14:creationId xmlns:p14="http://schemas.microsoft.com/office/powerpoint/2010/main" val="2099021603"/>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304800"/>
            <a:ext cx="8229600" cy="1143000"/>
          </a:xfrm>
        </p:spPr>
        <p:txBody>
          <a:bodyPr>
            <a:normAutofit/>
          </a:bodyPr>
          <a:lstStyle/>
          <a:p>
            <a:pPr eaLnBrk="1" hangingPunct="1"/>
            <a:r>
              <a:rPr lang="en-US" dirty="0" smtClean="0"/>
              <a:t>Integration Testing</a:t>
            </a:r>
            <a:endParaRPr lang="en-US" sz="2800" dirty="0" smtClean="0"/>
          </a:p>
        </p:txBody>
      </p:sp>
      <p:sp>
        <p:nvSpPr>
          <p:cNvPr id="29699" name="Rectangle 3"/>
          <p:cNvSpPr>
            <a:spLocks noGrp="1" noChangeArrowheads="1"/>
          </p:cNvSpPr>
          <p:nvPr>
            <p:ph idx="1"/>
          </p:nvPr>
        </p:nvSpPr>
        <p:spPr>
          <a:xfrm>
            <a:off x="381000" y="1295400"/>
            <a:ext cx="8216900" cy="4741863"/>
          </a:xfrm>
        </p:spPr>
        <p:txBody>
          <a:bodyPr/>
          <a:lstStyle/>
          <a:p>
            <a:pPr eaLnBrk="1" hangingPunct="1"/>
            <a:r>
              <a:rPr lang="en-US" dirty="0" smtClean="0"/>
              <a:t>System viewed as a  hierarchy of components</a:t>
            </a:r>
          </a:p>
          <a:p>
            <a:pPr eaLnBrk="1" hangingPunct="1"/>
            <a:endParaRPr lang="en-US" sz="2400" dirty="0" smtClean="0"/>
          </a:p>
          <a:p>
            <a:pPr eaLnBrk="1" hangingPunct="1">
              <a:buFont typeface="Lucida Sans Unicode" pitchFamily="34" charset="0"/>
              <a:buNone/>
            </a:pPr>
            <a:endParaRPr lang="en-US" dirty="0" smtClean="0"/>
          </a:p>
          <a:p>
            <a:pPr eaLnBrk="1" hangingPunct="1"/>
            <a:endParaRPr lang="en-US" dirty="0" smtClean="0"/>
          </a:p>
          <a:p>
            <a:pPr eaLnBrk="1" hangingPunct="1"/>
            <a:endParaRPr lang="en-US" sz="2400" dirty="0" smtClean="0"/>
          </a:p>
          <a:p>
            <a:pPr eaLnBrk="1" hangingPunct="1">
              <a:buFont typeface="Lucida Sans Unicode" pitchFamily="34" charset="0"/>
              <a:buNone/>
            </a:pPr>
            <a:endParaRPr lang="en-US" sz="2400" dirty="0" smtClean="0"/>
          </a:p>
        </p:txBody>
      </p:sp>
      <p:pic>
        <p:nvPicPr>
          <p:cNvPr id="29700" name="Picture 5"/>
          <p:cNvPicPr>
            <a:picLocks noChangeAspect="1" noChangeArrowheads="1"/>
          </p:cNvPicPr>
          <p:nvPr/>
        </p:nvPicPr>
        <p:blipFill>
          <a:blip r:embed="rId3" cstate="print"/>
          <a:srcRect/>
          <a:stretch>
            <a:fillRect/>
          </a:stretch>
        </p:blipFill>
        <p:spPr bwMode="auto">
          <a:xfrm>
            <a:off x="914400" y="1828800"/>
            <a:ext cx="7115175" cy="4322763"/>
          </a:xfrm>
          <a:prstGeom prst="rect">
            <a:avLst/>
          </a:prstGeom>
          <a:noFill/>
          <a:ln w="9525">
            <a:noFill/>
            <a:miter lim="800000"/>
            <a:headEnd/>
            <a:tailEnd/>
          </a:ln>
        </p:spPr>
      </p:pic>
    </p:spTree>
    <p:extLst>
      <p:ext uri="{BB962C8B-B14F-4D97-AF65-F5344CB8AC3E}">
        <p14:creationId xmlns:p14="http://schemas.microsoft.com/office/powerpoint/2010/main" val="2871483688"/>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normAutofit fontScale="90000"/>
          </a:bodyPr>
          <a:lstStyle/>
          <a:p>
            <a:pPr eaLnBrk="1" hangingPunct="1"/>
            <a:r>
              <a:rPr lang="en-US" dirty="0" smtClean="0"/>
              <a:t>Integration Testing</a:t>
            </a:r>
            <a:r>
              <a:rPr lang="en-US" sz="2800" dirty="0" smtClean="0"/>
              <a:t> </a:t>
            </a:r>
            <a:br>
              <a:rPr lang="en-US" sz="2800" dirty="0" smtClean="0"/>
            </a:br>
            <a:r>
              <a:rPr lang="en-US" sz="2800" dirty="0" smtClean="0"/>
              <a:t>Bing-Bang Integration Example</a:t>
            </a:r>
          </a:p>
        </p:txBody>
      </p:sp>
      <p:sp>
        <p:nvSpPr>
          <p:cNvPr id="30723" name="Rectangle 3"/>
          <p:cNvSpPr>
            <a:spLocks noGrp="1" noChangeArrowheads="1"/>
          </p:cNvSpPr>
          <p:nvPr>
            <p:ph idx="1"/>
          </p:nvPr>
        </p:nvSpPr>
        <p:spPr/>
        <p:txBody>
          <a:bodyPr/>
          <a:lstStyle/>
          <a:p>
            <a:pPr eaLnBrk="1" hangingPunct="1"/>
            <a:r>
              <a:rPr lang="en-US" dirty="0" smtClean="0"/>
              <a:t>All components integrated at once</a:t>
            </a:r>
          </a:p>
        </p:txBody>
      </p:sp>
      <p:pic>
        <p:nvPicPr>
          <p:cNvPr id="30724" name="Picture 7"/>
          <p:cNvPicPr>
            <a:picLocks noChangeAspect="1" noChangeArrowheads="1"/>
          </p:cNvPicPr>
          <p:nvPr/>
        </p:nvPicPr>
        <p:blipFill>
          <a:blip r:embed="rId3" cstate="print"/>
          <a:srcRect/>
          <a:stretch>
            <a:fillRect/>
          </a:stretch>
        </p:blipFill>
        <p:spPr bwMode="auto">
          <a:xfrm>
            <a:off x="4953000" y="2133600"/>
            <a:ext cx="3651250" cy="3957638"/>
          </a:xfrm>
          <a:prstGeom prst="rect">
            <a:avLst/>
          </a:prstGeom>
          <a:noFill/>
          <a:ln w="9525">
            <a:noFill/>
            <a:miter lim="800000"/>
            <a:headEnd/>
            <a:tailEnd/>
          </a:ln>
        </p:spPr>
      </p:pic>
    </p:spTree>
    <p:extLst>
      <p:ext uri="{BB962C8B-B14F-4D97-AF65-F5344CB8AC3E}">
        <p14:creationId xmlns:p14="http://schemas.microsoft.com/office/powerpoint/2010/main" val="4277078706"/>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fontScale="90000"/>
          </a:bodyPr>
          <a:lstStyle/>
          <a:p>
            <a:pPr eaLnBrk="1" hangingPunct="1"/>
            <a:r>
              <a:rPr lang="en-US" dirty="0" smtClean="0"/>
              <a:t>Integration Testing</a:t>
            </a:r>
            <a:br>
              <a:rPr lang="en-US" dirty="0" smtClean="0"/>
            </a:br>
            <a:r>
              <a:rPr lang="en-US" sz="2800" dirty="0" smtClean="0"/>
              <a:t>Top-Down Integration Example</a:t>
            </a:r>
          </a:p>
        </p:txBody>
      </p:sp>
      <p:sp>
        <p:nvSpPr>
          <p:cNvPr id="31747" name="Rectangle 3"/>
          <p:cNvSpPr>
            <a:spLocks noGrp="1" noChangeArrowheads="1"/>
          </p:cNvSpPr>
          <p:nvPr>
            <p:ph idx="1"/>
          </p:nvPr>
        </p:nvSpPr>
        <p:spPr/>
        <p:txBody>
          <a:bodyPr/>
          <a:lstStyle/>
          <a:p>
            <a:pPr eaLnBrk="1" hangingPunct="1"/>
            <a:r>
              <a:rPr lang="en-US" smtClean="0"/>
              <a:t>Only A is tested by itself</a:t>
            </a:r>
          </a:p>
          <a:p>
            <a:pPr eaLnBrk="1" hangingPunct="1"/>
            <a:r>
              <a:rPr lang="en-US" smtClean="0"/>
              <a:t>Stubs of B, C and D are used at first level</a:t>
            </a:r>
          </a:p>
          <a:p>
            <a:pPr eaLnBrk="1" hangingPunct="1"/>
            <a:r>
              <a:rPr lang="en-US" smtClean="0"/>
              <a:t>N-1 stubs required (N=Number of nodes)</a:t>
            </a:r>
          </a:p>
          <a:p>
            <a:pPr eaLnBrk="1" hangingPunct="1"/>
            <a:r>
              <a:rPr lang="en-US" smtClean="0"/>
              <a:t>Locating faults?</a:t>
            </a:r>
          </a:p>
          <a:p>
            <a:pPr eaLnBrk="1" hangingPunct="1"/>
            <a:endParaRPr lang="en-US" smtClean="0"/>
          </a:p>
          <a:p>
            <a:pPr eaLnBrk="1" hangingPunct="1">
              <a:buFont typeface="Lucida Sans Unicode" pitchFamily="34" charset="0"/>
              <a:buNone/>
            </a:pPr>
            <a:endParaRPr lang="en-US" smtClean="0"/>
          </a:p>
        </p:txBody>
      </p:sp>
      <p:pic>
        <p:nvPicPr>
          <p:cNvPr id="31748" name="Picture 9"/>
          <p:cNvPicPr>
            <a:picLocks noChangeAspect="1" noChangeArrowheads="1"/>
          </p:cNvPicPr>
          <p:nvPr/>
        </p:nvPicPr>
        <p:blipFill>
          <a:blip r:embed="rId3" cstate="print"/>
          <a:srcRect/>
          <a:stretch>
            <a:fillRect/>
          </a:stretch>
        </p:blipFill>
        <p:spPr bwMode="auto">
          <a:xfrm>
            <a:off x="433388" y="3924300"/>
            <a:ext cx="8277225" cy="1866900"/>
          </a:xfrm>
          <a:prstGeom prst="rect">
            <a:avLst/>
          </a:prstGeom>
          <a:noFill/>
          <a:ln w="9525">
            <a:noFill/>
            <a:miter lim="800000"/>
            <a:headEnd/>
            <a:tailEnd/>
          </a:ln>
        </p:spPr>
      </p:pic>
    </p:spTree>
    <p:extLst>
      <p:ext uri="{BB962C8B-B14F-4D97-AF65-F5344CB8AC3E}">
        <p14:creationId xmlns:p14="http://schemas.microsoft.com/office/powerpoint/2010/main" val="1236258420"/>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fontScale="90000"/>
          </a:bodyPr>
          <a:lstStyle/>
          <a:p>
            <a:pPr eaLnBrk="1" hangingPunct="1"/>
            <a:r>
              <a:rPr lang="en-US" dirty="0" smtClean="0"/>
              <a:t>Integration Testing</a:t>
            </a:r>
            <a:br>
              <a:rPr lang="en-US" dirty="0" smtClean="0"/>
            </a:br>
            <a:r>
              <a:rPr lang="en-US" sz="2800" dirty="0" smtClean="0"/>
              <a:t>Top-Down Integration Example</a:t>
            </a:r>
          </a:p>
        </p:txBody>
      </p:sp>
      <p:sp>
        <p:nvSpPr>
          <p:cNvPr id="31747" name="Rectangle 3"/>
          <p:cNvSpPr>
            <a:spLocks noGrp="1" noChangeArrowheads="1"/>
          </p:cNvSpPr>
          <p:nvPr>
            <p:ph idx="1"/>
          </p:nvPr>
        </p:nvSpPr>
        <p:spPr/>
        <p:txBody>
          <a:bodyPr/>
          <a:lstStyle/>
          <a:p>
            <a:pPr eaLnBrk="1" hangingPunct="1"/>
            <a:endParaRPr lang="en-US" dirty="0" smtClean="0"/>
          </a:p>
          <a:p>
            <a:pPr eaLnBrk="1" hangingPunct="1">
              <a:buFont typeface="Lucida Sans Unicode" pitchFamily="34" charset="0"/>
              <a:buNone/>
            </a:pPr>
            <a:endParaRPr lang="en-US" dirty="0" smtClean="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927" y="1905000"/>
            <a:ext cx="8262673" cy="4448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18049264"/>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normAutofit fontScale="90000"/>
          </a:bodyPr>
          <a:lstStyle/>
          <a:p>
            <a:pPr eaLnBrk="1" hangingPunct="1"/>
            <a:r>
              <a:rPr lang="en-US" dirty="0" smtClean="0"/>
              <a:t>Integration Testing</a:t>
            </a:r>
            <a:br>
              <a:rPr lang="en-US" dirty="0" smtClean="0"/>
            </a:br>
            <a:r>
              <a:rPr lang="en-US" sz="2800" dirty="0" smtClean="0"/>
              <a:t>Bottom-Up Integration Example</a:t>
            </a:r>
          </a:p>
        </p:txBody>
      </p:sp>
      <p:sp>
        <p:nvSpPr>
          <p:cNvPr id="32771" name="Rectangle 10"/>
          <p:cNvSpPr>
            <a:spLocks noGrp="1" noChangeArrowheads="1"/>
          </p:cNvSpPr>
          <p:nvPr>
            <p:ph idx="1"/>
          </p:nvPr>
        </p:nvSpPr>
        <p:spPr>
          <a:xfrm>
            <a:off x="457200" y="1887537"/>
            <a:ext cx="8305800" cy="4665663"/>
          </a:xfrm>
        </p:spPr>
        <p:txBody>
          <a:bodyPr/>
          <a:lstStyle/>
          <a:p>
            <a:pPr eaLnBrk="1" hangingPunct="1"/>
            <a:r>
              <a:rPr lang="en-US" dirty="0" smtClean="0"/>
              <a:t>Drivers are used to call the child functions</a:t>
            </a:r>
          </a:p>
          <a:p>
            <a:pPr eaLnBrk="1" hangingPunct="1"/>
            <a:r>
              <a:rPr lang="en-US" dirty="0" smtClean="0"/>
              <a:t>Drivers are relatively intelligent</a:t>
            </a:r>
          </a:p>
          <a:p>
            <a:pPr eaLnBrk="1" hangingPunct="1"/>
            <a:r>
              <a:rPr lang="en-US" dirty="0" smtClean="0"/>
              <a:t>N - leaves drivers</a:t>
            </a:r>
          </a:p>
          <a:p>
            <a:pPr eaLnBrk="1" hangingPunct="1"/>
            <a:r>
              <a:rPr lang="en-US" dirty="0" smtClean="0"/>
              <a:t>Locating faults?</a:t>
            </a:r>
          </a:p>
        </p:txBody>
      </p:sp>
      <p:pic>
        <p:nvPicPr>
          <p:cNvPr id="32772" name="Picture 11"/>
          <p:cNvPicPr>
            <a:picLocks noChangeAspect="1" noChangeArrowheads="1"/>
          </p:cNvPicPr>
          <p:nvPr/>
        </p:nvPicPr>
        <p:blipFill>
          <a:blip r:embed="rId3" cstate="print"/>
          <a:srcRect/>
          <a:stretch>
            <a:fillRect/>
          </a:stretch>
        </p:blipFill>
        <p:spPr bwMode="auto">
          <a:xfrm>
            <a:off x="3733800" y="2941637"/>
            <a:ext cx="4905375" cy="3763963"/>
          </a:xfrm>
          <a:prstGeom prst="rect">
            <a:avLst/>
          </a:prstGeom>
          <a:noFill/>
          <a:ln w="9525">
            <a:noFill/>
            <a:miter lim="800000"/>
            <a:headEnd/>
            <a:tailEnd/>
          </a:ln>
        </p:spPr>
      </p:pic>
    </p:spTree>
    <p:extLst>
      <p:ext uri="{BB962C8B-B14F-4D97-AF65-F5344CB8AC3E}">
        <p14:creationId xmlns:p14="http://schemas.microsoft.com/office/powerpoint/2010/main" val="1599507871"/>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normAutofit fontScale="90000"/>
          </a:bodyPr>
          <a:lstStyle/>
          <a:p>
            <a:pPr eaLnBrk="1" hangingPunct="1"/>
            <a:r>
              <a:rPr lang="en-US" dirty="0" smtClean="0"/>
              <a:t>Integration Testing</a:t>
            </a:r>
            <a:br>
              <a:rPr lang="en-US" dirty="0" smtClean="0"/>
            </a:br>
            <a:r>
              <a:rPr lang="en-US" sz="2800" dirty="0" smtClean="0"/>
              <a:t>Bottom-Up Integration Example</a:t>
            </a:r>
          </a:p>
        </p:txBody>
      </p:sp>
      <p:sp>
        <p:nvSpPr>
          <p:cNvPr id="32771" name="Rectangle 10"/>
          <p:cNvSpPr>
            <a:spLocks noGrp="1" noChangeArrowheads="1"/>
          </p:cNvSpPr>
          <p:nvPr>
            <p:ph idx="1"/>
          </p:nvPr>
        </p:nvSpPr>
        <p:spPr>
          <a:xfrm>
            <a:off x="457200" y="1887537"/>
            <a:ext cx="8305800" cy="4665663"/>
          </a:xfrm>
        </p:spPr>
        <p:txBody>
          <a:bodyPr/>
          <a:lstStyle/>
          <a:p>
            <a:pPr eaLnBrk="1" hangingPunct="1"/>
            <a:endParaRPr lang="en-US" dirty="0" smtClean="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910645"/>
            <a:ext cx="7162800" cy="4642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0039699"/>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normAutofit fontScale="90000"/>
          </a:bodyPr>
          <a:lstStyle/>
          <a:p>
            <a:pPr eaLnBrk="1" hangingPunct="1"/>
            <a:r>
              <a:rPr lang="en-US" dirty="0" smtClean="0"/>
              <a:t>Integration Testing</a:t>
            </a:r>
            <a:r>
              <a:rPr lang="en-US" sz="2800" dirty="0" smtClean="0"/>
              <a:t> </a:t>
            </a:r>
            <a:br>
              <a:rPr lang="en-US" sz="2800" dirty="0" smtClean="0"/>
            </a:br>
            <a:r>
              <a:rPr lang="en-US" sz="2800" dirty="0" smtClean="0"/>
              <a:t>Sandwich Integration Example</a:t>
            </a:r>
          </a:p>
        </p:txBody>
      </p:sp>
      <p:sp>
        <p:nvSpPr>
          <p:cNvPr id="33795" name="Rectangle 3"/>
          <p:cNvSpPr>
            <a:spLocks noGrp="1" noChangeArrowheads="1"/>
          </p:cNvSpPr>
          <p:nvPr>
            <p:ph idx="1"/>
          </p:nvPr>
        </p:nvSpPr>
        <p:spPr/>
        <p:txBody>
          <a:bodyPr/>
          <a:lstStyle/>
          <a:p>
            <a:pPr eaLnBrk="1" hangingPunct="1"/>
            <a:r>
              <a:rPr lang="en-US" smtClean="0"/>
              <a:t>Viewed system as three layers</a:t>
            </a:r>
          </a:p>
          <a:p>
            <a:pPr eaLnBrk="1" hangingPunct="1"/>
            <a:r>
              <a:rPr lang="en-US" smtClean="0"/>
              <a:t>Employ BU where </a:t>
            </a:r>
          </a:p>
          <a:p>
            <a:pPr eaLnBrk="1" hangingPunct="1">
              <a:buFont typeface="Lucida Sans Unicode" pitchFamily="34" charset="0"/>
              <a:buNone/>
            </a:pPr>
            <a:r>
              <a:rPr lang="en-US" smtClean="0"/>
              <a:t>writing drivers is </a:t>
            </a:r>
          </a:p>
          <a:p>
            <a:pPr eaLnBrk="1" hangingPunct="1">
              <a:buFont typeface="Lucida Sans Unicode" pitchFamily="34" charset="0"/>
              <a:buNone/>
            </a:pPr>
            <a:r>
              <a:rPr lang="en-US" smtClean="0"/>
              <a:t>not costly</a:t>
            </a:r>
          </a:p>
          <a:p>
            <a:pPr eaLnBrk="1" hangingPunct="1">
              <a:buFont typeface="Lucida Sans Unicode" pitchFamily="34" charset="0"/>
              <a:buNone/>
            </a:pPr>
            <a:endParaRPr lang="en-US" smtClean="0"/>
          </a:p>
          <a:p>
            <a:pPr eaLnBrk="1" hangingPunct="1"/>
            <a:r>
              <a:rPr lang="en-US" smtClean="0"/>
              <a:t>Employ TD where</a:t>
            </a:r>
          </a:p>
          <a:p>
            <a:pPr eaLnBrk="1" hangingPunct="1">
              <a:buFont typeface="Lucida Sans Unicode" pitchFamily="34" charset="0"/>
              <a:buNone/>
            </a:pPr>
            <a:r>
              <a:rPr lang="en-US" smtClean="0"/>
              <a:t>stubs are easier to</a:t>
            </a:r>
          </a:p>
          <a:p>
            <a:pPr eaLnBrk="1" hangingPunct="1">
              <a:buFont typeface="Lucida Sans Unicode" pitchFamily="34" charset="0"/>
              <a:buNone/>
            </a:pPr>
            <a:r>
              <a:rPr lang="en-US" smtClean="0"/>
              <a:t>Write</a:t>
            </a:r>
          </a:p>
          <a:p>
            <a:pPr eaLnBrk="1" hangingPunct="1"/>
            <a:r>
              <a:rPr lang="en-US" smtClean="0"/>
              <a:t>Locating faults?</a:t>
            </a:r>
          </a:p>
        </p:txBody>
      </p:sp>
      <p:pic>
        <p:nvPicPr>
          <p:cNvPr id="33796" name="Picture 7"/>
          <p:cNvPicPr>
            <a:picLocks noChangeAspect="1" noChangeArrowheads="1"/>
          </p:cNvPicPr>
          <p:nvPr/>
        </p:nvPicPr>
        <p:blipFill>
          <a:blip r:embed="rId3" cstate="print"/>
          <a:srcRect/>
          <a:stretch>
            <a:fillRect/>
          </a:stretch>
        </p:blipFill>
        <p:spPr bwMode="auto">
          <a:xfrm>
            <a:off x="3986213" y="2438400"/>
            <a:ext cx="4700587" cy="4260850"/>
          </a:xfrm>
          <a:prstGeom prst="rect">
            <a:avLst/>
          </a:prstGeom>
          <a:noFill/>
          <a:ln w="9525">
            <a:noFill/>
            <a:miter lim="800000"/>
            <a:headEnd/>
            <a:tailEnd/>
          </a:ln>
        </p:spPr>
      </p:pic>
    </p:spTree>
    <p:extLst>
      <p:ext uri="{BB962C8B-B14F-4D97-AF65-F5344CB8AC3E}">
        <p14:creationId xmlns:p14="http://schemas.microsoft.com/office/powerpoint/2010/main" val="3046984313"/>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smtClean="0"/>
              <a:t>System Testing</a:t>
            </a:r>
          </a:p>
        </p:txBody>
      </p:sp>
      <p:sp>
        <p:nvSpPr>
          <p:cNvPr id="5" name="Content Placeholder 2"/>
          <p:cNvSpPr txBox="1">
            <a:spLocks/>
          </p:cNvSpPr>
          <p:nvPr/>
        </p:nvSpPr>
        <p:spPr>
          <a:xfrm>
            <a:off x="76200" y="2044700"/>
            <a:ext cx="8991600" cy="4660900"/>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r>
              <a:rPr lang="en-US" dirty="0" smtClean="0"/>
              <a:t>System is tested as a whole</a:t>
            </a:r>
          </a:p>
          <a:p>
            <a:r>
              <a:rPr lang="en-US" dirty="0" smtClean="0"/>
              <a:t>Different types of testing considered during System Testing:</a:t>
            </a:r>
          </a:p>
          <a:p>
            <a:pPr marL="393192" lvl="1" indent="0">
              <a:buNone/>
            </a:pPr>
            <a:r>
              <a:rPr lang="en-US" dirty="0" smtClean="0"/>
              <a:t>- Functional Testing (GUI)		- Scalability</a:t>
            </a:r>
          </a:p>
          <a:p>
            <a:pPr marL="393192" lvl="1" indent="0">
              <a:buNone/>
            </a:pPr>
            <a:r>
              <a:rPr lang="en-US" dirty="0" smtClean="0"/>
              <a:t>- Performance Testing			- Sanity</a:t>
            </a:r>
          </a:p>
          <a:p>
            <a:pPr marL="393192" lvl="1" indent="0">
              <a:buNone/>
            </a:pPr>
            <a:r>
              <a:rPr lang="en-US" dirty="0" smtClean="0"/>
              <a:t>- Usability					- Smoke </a:t>
            </a:r>
          </a:p>
          <a:p>
            <a:pPr marL="393192" lvl="1" indent="0">
              <a:buNone/>
            </a:pPr>
            <a:r>
              <a:rPr lang="en-US" dirty="0" smtClean="0"/>
              <a:t>- Load					- Regression</a:t>
            </a:r>
          </a:p>
          <a:p>
            <a:pPr marL="393192" lvl="1" indent="0">
              <a:buNone/>
            </a:pPr>
            <a:r>
              <a:rPr lang="en-US" dirty="0" smtClean="0"/>
              <a:t>- Volume					- Compatibility</a:t>
            </a:r>
          </a:p>
          <a:p>
            <a:pPr marL="393192" lvl="1" indent="0">
              <a:buNone/>
            </a:pPr>
            <a:r>
              <a:rPr lang="en-US" dirty="0" smtClean="0"/>
              <a:t>- Stress					- Installation</a:t>
            </a:r>
          </a:p>
          <a:p>
            <a:pPr marL="393192" lvl="1" indent="0">
              <a:buNone/>
            </a:pPr>
            <a:r>
              <a:rPr lang="en-US" dirty="0" smtClean="0"/>
              <a:t>- Security					- Ad hoc</a:t>
            </a:r>
          </a:p>
        </p:txBody>
      </p:sp>
    </p:spTree>
    <p:extLst>
      <p:ext uri="{BB962C8B-B14F-4D97-AF65-F5344CB8AC3E}">
        <p14:creationId xmlns:p14="http://schemas.microsoft.com/office/powerpoint/2010/main" val="389838092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smtClean="0"/>
              <a:t>Steps to do System Testing</a:t>
            </a:r>
          </a:p>
        </p:txBody>
      </p:sp>
      <p:sp>
        <p:nvSpPr>
          <p:cNvPr id="3" name="Content Placeholder 2"/>
          <p:cNvSpPr>
            <a:spLocks noGrp="1"/>
          </p:cNvSpPr>
          <p:nvPr>
            <p:ph idx="1"/>
          </p:nvPr>
        </p:nvSpPr>
        <p:spPr/>
        <p:txBody>
          <a:bodyPr>
            <a:normAutofit fontScale="92500" lnSpcReduction="10000"/>
          </a:bodyPr>
          <a:lstStyle/>
          <a:p>
            <a:pPr>
              <a:buFont typeface="Lucida Sans Unicode" pitchFamily="34" charset="0"/>
              <a:buNone/>
              <a:defRPr/>
            </a:pPr>
            <a:r>
              <a:rPr lang="en-US" dirty="0" smtClean="0"/>
              <a:t>The following steps are important to perform System Testing:</a:t>
            </a:r>
          </a:p>
          <a:p>
            <a:pPr>
              <a:defRPr/>
            </a:pPr>
            <a:r>
              <a:rPr lang="en-US" dirty="0" smtClean="0"/>
              <a:t>Step 1: Create a System Test Plan</a:t>
            </a:r>
          </a:p>
          <a:p>
            <a:pPr>
              <a:defRPr/>
            </a:pPr>
            <a:r>
              <a:rPr lang="en-US" dirty="0" smtClean="0"/>
              <a:t>Step 2: Create Test Cases</a:t>
            </a:r>
          </a:p>
          <a:p>
            <a:pPr>
              <a:defRPr/>
            </a:pPr>
            <a:r>
              <a:rPr lang="en-US" dirty="0" smtClean="0"/>
              <a:t>Step 3: Carefully Build Data used as Input for System Testing</a:t>
            </a:r>
          </a:p>
          <a:p>
            <a:pPr>
              <a:defRPr/>
            </a:pPr>
            <a:r>
              <a:rPr lang="en-US" dirty="0" smtClean="0"/>
              <a:t>Step 3: If applicable create scripts to</a:t>
            </a:r>
          </a:p>
          <a:p>
            <a:pPr>
              <a:defRPr/>
            </a:pPr>
            <a:r>
              <a:rPr lang="en-US" dirty="0" smtClean="0"/>
              <a:t>- Build environment and</a:t>
            </a:r>
          </a:p>
          <a:p>
            <a:pPr>
              <a:defRPr/>
            </a:pPr>
            <a:r>
              <a:rPr lang="en-US" dirty="0" smtClean="0"/>
              <a:t>- to automate Execution of test cases</a:t>
            </a:r>
          </a:p>
          <a:p>
            <a:pPr>
              <a:defRPr/>
            </a:pPr>
            <a:r>
              <a:rPr lang="en-US" dirty="0" smtClean="0"/>
              <a:t>Step 4: Execute the test cases</a:t>
            </a:r>
          </a:p>
          <a:p>
            <a:pPr>
              <a:defRPr/>
            </a:pPr>
            <a:r>
              <a:rPr lang="en-US" dirty="0" smtClean="0"/>
              <a:t>Step 5: Fix the bugs if any and re test the code</a:t>
            </a:r>
          </a:p>
          <a:p>
            <a:pPr>
              <a:defRPr/>
            </a:pPr>
            <a:r>
              <a:rPr lang="en-US" dirty="0" smtClean="0"/>
              <a:t>Step 6: Repeat the test cycle as necessary</a:t>
            </a:r>
            <a:endParaRPr lang="en-US" dirty="0"/>
          </a:p>
        </p:txBody>
      </p:sp>
    </p:spTree>
    <p:extLst>
      <p:ext uri="{BB962C8B-B14F-4D97-AF65-F5344CB8AC3E}">
        <p14:creationId xmlns:p14="http://schemas.microsoft.com/office/powerpoint/2010/main" val="303986738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rmAutofit fontScale="90000"/>
          </a:bodyPr>
          <a:lstStyle/>
          <a:p>
            <a:pPr eaLnBrk="1" hangingPunct="1"/>
            <a:r>
              <a:rPr lang="en-US" dirty="0" smtClean="0"/>
              <a:t>Principles of System Testing</a:t>
            </a:r>
            <a:br>
              <a:rPr lang="en-US" dirty="0" smtClean="0"/>
            </a:br>
            <a:r>
              <a:rPr lang="en-US" sz="2800" dirty="0" smtClean="0"/>
              <a:t>Regression Testing</a:t>
            </a:r>
          </a:p>
        </p:txBody>
      </p:sp>
      <p:sp>
        <p:nvSpPr>
          <p:cNvPr id="8195" name="Rectangle 3"/>
          <p:cNvSpPr>
            <a:spLocks noGrp="1" noChangeArrowheads="1"/>
          </p:cNvSpPr>
          <p:nvPr>
            <p:ph type="body" idx="1"/>
          </p:nvPr>
        </p:nvSpPr>
        <p:spPr/>
        <p:txBody>
          <a:bodyPr/>
          <a:lstStyle/>
          <a:p>
            <a:pPr eaLnBrk="1" hangingPunct="1"/>
            <a:r>
              <a:rPr lang="en-US" dirty="0" smtClean="0"/>
              <a:t>Identifies new faults that may have been introduced as current one are being corrected</a:t>
            </a:r>
          </a:p>
          <a:p>
            <a:pPr eaLnBrk="1" hangingPunct="1"/>
            <a:r>
              <a:rPr lang="en-US" dirty="0" smtClean="0"/>
              <a:t>Verifies a new version or release still performs the same functions in the same manner as an older version or release</a:t>
            </a:r>
          </a:p>
        </p:txBody>
      </p:sp>
    </p:spTree>
    <p:extLst>
      <p:ext uri="{BB962C8B-B14F-4D97-AF65-F5344CB8AC3E}">
        <p14:creationId xmlns:p14="http://schemas.microsoft.com/office/powerpoint/2010/main" val="1878542087"/>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fontScale="90000"/>
          </a:bodyPr>
          <a:lstStyle/>
          <a:p>
            <a:pPr eaLnBrk="1" hangingPunct="1"/>
            <a:r>
              <a:rPr lang="en-US" dirty="0" smtClean="0"/>
              <a:t>Principles of System Testing</a:t>
            </a:r>
            <a:br>
              <a:rPr lang="en-US" dirty="0" smtClean="0"/>
            </a:br>
            <a:r>
              <a:rPr lang="en-US" sz="2800" dirty="0" smtClean="0"/>
              <a:t>Regression Testing Steps</a:t>
            </a:r>
          </a:p>
        </p:txBody>
      </p:sp>
      <p:sp>
        <p:nvSpPr>
          <p:cNvPr id="9219" name="Rectangle 3"/>
          <p:cNvSpPr>
            <a:spLocks noGrp="1" noChangeArrowheads="1"/>
          </p:cNvSpPr>
          <p:nvPr>
            <p:ph type="body" idx="1"/>
          </p:nvPr>
        </p:nvSpPr>
        <p:spPr/>
        <p:txBody>
          <a:bodyPr/>
          <a:lstStyle/>
          <a:p>
            <a:pPr eaLnBrk="1" hangingPunct="1"/>
            <a:r>
              <a:rPr lang="en-US" dirty="0" smtClean="0"/>
              <a:t>Inserting the new code</a:t>
            </a:r>
          </a:p>
          <a:p>
            <a:pPr eaLnBrk="1" hangingPunct="1"/>
            <a:r>
              <a:rPr lang="en-US" dirty="0" smtClean="0"/>
              <a:t>Testing functions known to be affected by the new code</a:t>
            </a:r>
          </a:p>
          <a:p>
            <a:pPr eaLnBrk="1" hangingPunct="1"/>
            <a:r>
              <a:rPr lang="en-US" dirty="0" smtClean="0"/>
              <a:t>Testing essential function of </a:t>
            </a:r>
            <a:r>
              <a:rPr lang="en-US" i="1" dirty="0" smtClean="0"/>
              <a:t>m</a:t>
            </a:r>
            <a:r>
              <a:rPr lang="en-US" dirty="0" smtClean="0"/>
              <a:t> to verify that they still work properly</a:t>
            </a:r>
          </a:p>
          <a:p>
            <a:pPr eaLnBrk="1" hangingPunct="1"/>
            <a:r>
              <a:rPr lang="en-US" dirty="0" smtClean="0"/>
              <a:t>Continuing function testing </a:t>
            </a:r>
            <a:r>
              <a:rPr lang="en-US" i="1" dirty="0" smtClean="0"/>
              <a:t>m</a:t>
            </a:r>
            <a:r>
              <a:rPr lang="en-US" dirty="0" smtClean="0"/>
              <a:t> + 1</a:t>
            </a:r>
          </a:p>
        </p:txBody>
      </p:sp>
    </p:spTree>
    <p:extLst>
      <p:ext uri="{BB962C8B-B14F-4D97-AF65-F5344CB8AC3E}">
        <p14:creationId xmlns:p14="http://schemas.microsoft.com/office/powerpoint/2010/main" val="2189651103"/>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lIns="92075" tIns="46038" rIns="92075" bIns="46038">
            <a:normAutofit fontScale="90000"/>
          </a:bodyPr>
          <a:lstStyle/>
          <a:p>
            <a:pPr eaLnBrk="1" hangingPunct="1"/>
            <a:r>
              <a:rPr lang="en-US" dirty="0" smtClean="0"/>
              <a:t>Acceptance Tests</a:t>
            </a:r>
            <a:br>
              <a:rPr lang="en-US" dirty="0" smtClean="0"/>
            </a:br>
            <a:r>
              <a:rPr lang="en-US" sz="2800" dirty="0" smtClean="0"/>
              <a:t>Purpose and Roles</a:t>
            </a:r>
          </a:p>
        </p:txBody>
      </p:sp>
      <p:sp>
        <p:nvSpPr>
          <p:cNvPr id="21507" name="Rectangle 3"/>
          <p:cNvSpPr>
            <a:spLocks noGrp="1" noChangeArrowheads="1"/>
          </p:cNvSpPr>
          <p:nvPr>
            <p:ph type="body" idx="1"/>
          </p:nvPr>
        </p:nvSpPr>
        <p:spPr/>
        <p:txBody>
          <a:bodyPr lIns="92075" tIns="46038" rIns="92075" bIns="46038"/>
          <a:lstStyle/>
          <a:p>
            <a:pPr eaLnBrk="1" hangingPunct="1"/>
            <a:r>
              <a:rPr lang="en-US" smtClean="0"/>
              <a:t>Enable the customers and users to determine if the built system meets their needs and expectations</a:t>
            </a:r>
          </a:p>
          <a:p>
            <a:pPr eaLnBrk="1" hangingPunct="1"/>
            <a:r>
              <a:rPr lang="en-US" smtClean="0"/>
              <a:t>Written, conducted and evaluated by the customers</a:t>
            </a:r>
          </a:p>
          <a:p>
            <a:pPr eaLnBrk="1" hangingPunct="1"/>
            <a:endParaRPr lang="en-US" smtClean="0"/>
          </a:p>
        </p:txBody>
      </p:sp>
    </p:spTree>
    <p:extLst>
      <p:ext uri="{BB962C8B-B14F-4D97-AF65-F5344CB8AC3E}">
        <p14:creationId xmlns:p14="http://schemas.microsoft.com/office/powerpoint/2010/main" val="74389577"/>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lIns="92075" tIns="46038" rIns="92075" bIns="46038">
            <a:normAutofit fontScale="90000"/>
          </a:bodyPr>
          <a:lstStyle/>
          <a:p>
            <a:pPr eaLnBrk="1" hangingPunct="1"/>
            <a:r>
              <a:rPr lang="en-US" dirty="0" smtClean="0"/>
              <a:t>Acceptance Tests</a:t>
            </a:r>
            <a:br>
              <a:rPr lang="en-US" dirty="0" smtClean="0"/>
            </a:br>
            <a:r>
              <a:rPr lang="en-US" sz="2800" dirty="0" smtClean="0"/>
              <a:t>Types of Acceptance Tests</a:t>
            </a:r>
          </a:p>
        </p:txBody>
      </p:sp>
      <p:sp>
        <p:nvSpPr>
          <p:cNvPr id="22531" name="Rectangle 3"/>
          <p:cNvSpPr>
            <a:spLocks noGrp="1" noChangeArrowheads="1"/>
          </p:cNvSpPr>
          <p:nvPr>
            <p:ph type="body" idx="1"/>
          </p:nvPr>
        </p:nvSpPr>
        <p:spPr/>
        <p:txBody>
          <a:bodyPr lIns="92075" tIns="46038" rIns="92075" bIns="46038"/>
          <a:lstStyle/>
          <a:p>
            <a:pPr eaLnBrk="1" hangingPunct="1"/>
            <a:r>
              <a:rPr lang="en-US" dirty="0" smtClean="0"/>
              <a:t>Pilot test:  install on experimental basis</a:t>
            </a:r>
          </a:p>
          <a:p>
            <a:pPr eaLnBrk="1" hangingPunct="1"/>
            <a:r>
              <a:rPr lang="en-US" dirty="0" smtClean="0"/>
              <a:t>Alpha test:  in-house test</a:t>
            </a:r>
          </a:p>
          <a:p>
            <a:pPr eaLnBrk="1" hangingPunct="1"/>
            <a:r>
              <a:rPr lang="en-US" dirty="0" smtClean="0"/>
              <a:t>Beta test:  customer pilot</a:t>
            </a:r>
          </a:p>
          <a:p>
            <a:pPr eaLnBrk="1" hangingPunct="1"/>
            <a:r>
              <a:rPr lang="en-US" dirty="0" smtClean="0"/>
              <a:t>Parallel testing:  new system operates in parallel with old system</a:t>
            </a:r>
          </a:p>
        </p:txBody>
      </p:sp>
    </p:spTree>
    <p:extLst>
      <p:ext uri="{BB962C8B-B14F-4D97-AF65-F5344CB8AC3E}">
        <p14:creationId xmlns:p14="http://schemas.microsoft.com/office/powerpoint/2010/main" val="605586981"/>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normAutofit/>
          </a:bodyPr>
          <a:lstStyle/>
          <a:p>
            <a:pPr eaLnBrk="1" hangingPunct="1"/>
            <a:r>
              <a:rPr lang="en-US" dirty="0"/>
              <a:t>Result of Acceptance Tests</a:t>
            </a:r>
          </a:p>
        </p:txBody>
      </p:sp>
      <p:sp>
        <p:nvSpPr>
          <p:cNvPr id="23555" name="Rectangle 3"/>
          <p:cNvSpPr>
            <a:spLocks noGrp="1" noChangeArrowheads="1"/>
          </p:cNvSpPr>
          <p:nvPr>
            <p:ph type="body" idx="1"/>
          </p:nvPr>
        </p:nvSpPr>
        <p:spPr/>
        <p:txBody>
          <a:bodyPr/>
          <a:lstStyle/>
          <a:p>
            <a:pPr eaLnBrk="1" hangingPunct="1"/>
            <a:r>
              <a:rPr lang="en-US" dirty="0" smtClean="0"/>
              <a:t>List of requirements that</a:t>
            </a:r>
          </a:p>
          <a:p>
            <a:pPr lvl="1" eaLnBrk="1" hangingPunct="1"/>
            <a:r>
              <a:rPr lang="en-US" dirty="0" smtClean="0"/>
              <a:t>are not satisfied</a:t>
            </a:r>
          </a:p>
          <a:p>
            <a:pPr lvl="1" eaLnBrk="1" hangingPunct="1"/>
            <a:r>
              <a:rPr lang="en-US" dirty="0" smtClean="0"/>
              <a:t>must be deleted</a:t>
            </a:r>
          </a:p>
          <a:p>
            <a:pPr lvl="1" eaLnBrk="1" hangingPunct="1"/>
            <a:r>
              <a:rPr lang="en-US" dirty="0" smtClean="0"/>
              <a:t>must be revised</a:t>
            </a:r>
          </a:p>
          <a:p>
            <a:pPr lvl="1" eaLnBrk="1" hangingPunct="1"/>
            <a:r>
              <a:rPr lang="en-US" dirty="0" smtClean="0"/>
              <a:t>must be added </a:t>
            </a:r>
          </a:p>
        </p:txBody>
      </p:sp>
    </p:spTree>
    <p:extLst>
      <p:ext uri="{BB962C8B-B14F-4D97-AF65-F5344CB8AC3E}">
        <p14:creationId xmlns:p14="http://schemas.microsoft.com/office/powerpoint/2010/main" val="915123519"/>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dirty="0" smtClean="0"/>
              <a:t>Installation Testing</a:t>
            </a:r>
          </a:p>
        </p:txBody>
      </p:sp>
      <p:sp>
        <p:nvSpPr>
          <p:cNvPr id="24579" name="Rectangle 3"/>
          <p:cNvSpPr>
            <a:spLocks noGrp="1" noChangeArrowheads="1"/>
          </p:cNvSpPr>
          <p:nvPr>
            <p:ph type="body" idx="1"/>
          </p:nvPr>
        </p:nvSpPr>
        <p:spPr/>
        <p:txBody>
          <a:bodyPr/>
          <a:lstStyle/>
          <a:p>
            <a:pPr eaLnBrk="1" hangingPunct="1"/>
            <a:r>
              <a:rPr lang="en-US" dirty="0" smtClean="0"/>
              <a:t>Before the testing</a:t>
            </a:r>
          </a:p>
          <a:p>
            <a:pPr lvl="1" eaLnBrk="1" hangingPunct="1"/>
            <a:r>
              <a:rPr lang="en-US" dirty="0" smtClean="0"/>
              <a:t>Configure the system</a:t>
            </a:r>
          </a:p>
          <a:p>
            <a:pPr lvl="1" eaLnBrk="1" hangingPunct="1"/>
            <a:r>
              <a:rPr lang="en-US" dirty="0" smtClean="0"/>
              <a:t>Attach proper number and kind of devices</a:t>
            </a:r>
          </a:p>
          <a:p>
            <a:pPr lvl="1" eaLnBrk="1" hangingPunct="1"/>
            <a:r>
              <a:rPr lang="en-US" dirty="0" smtClean="0"/>
              <a:t>Establish communication with other system</a:t>
            </a:r>
          </a:p>
          <a:p>
            <a:pPr eaLnBrk="1" hangingPunct="1"/>
            <a:r>
              <a:rPr lang="en-US" dirty="0" smtClean="0"/>
              <a:t>The testing</a:t>
            </a:r>
          </a:p>
          <a:p>
            <a:pPr lvl="1" eaLnBrk="1" hangingPunct="1"/>
            <a:r>
              <a:rPr lang="en-US" dirty="0" smtClean="0"/>
              <a:t>to verify that the system has been installed properly and works</a:t>
            </a:r>
          </a:p>
          <a:p>
            <a:pPr lvl="1" eaLnBrk="1" hangingPunct="1">
              <a:buFont typeface="Lucida Sans Unicode" pitchFamily="34" charset="0"/>
              <a:buNone/>
            </a:pPr>
            <a:endParaRPr lang="en-US" dirty="0" smtClean="0"/>
          </a:p>
        </p:txBody>
      </p:sp>
    </p:spTree>
    <p:extLst>
      <p:ext uri="{BB962C8B-B14F-4D97-AF65-F5344CB8AC3E}">
        <p14:creationId xmlns:p14="http://schemas.microsoft.com/office/powerpoint/2010/main" val="1637928389"/>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smtClean="0"/>
              <a:t>Software Testing Tools</a:t>
            </a:r>
          </a:p>
        </p:txBody>
      </p:sp>
      <p:sp>
        <p:nvSpPr>
          <p:cNvPr id="3" name="Content Placeholder 2"/>
          <p:cNvSpPr>
            <a:spLocks noGrp="1"/>
          </p:cNvSpPr>
          <p:nvPr>
            <p:ph idx="1"/>
          </p:nvPr>
        </p:nvSpPr>
        <p:spPr/>
        <p:txBody>
          <a:bodyPr>
            <a:normAutofit/>
          </a:bodyPr>
          <a:lstStyle/>
          <a:p>
            <a:pPr>
              <a:defRPr/>
            </a:pPr>
            <a:r>
              <a:rPr lang="en-US" dirty="0" smtClean="0"/>
              <a:t>Automated Testing Tools</a:t>
            </a:r>
          </a:p>
          <a:p>
            <a:pPr lvl="1">
              <a:defRPr/>
            </a:pPr>
            <a:r>
              <a:rPr lang="en-US" dirty="0" smtClean="0"/>
              <a:t>Selenium</a:t>
            </a:r>
            <a:r>
              <a:rPr lang="en-US" smtClean="0"/>
              <a:t>, QTP, SilkTest, WinRunner</a:t>
            </a:r>
            <a:r>
              <a:rPr lang="en-US" dirty="0" smtClean="0"/>
              <a:t>, </a:t>
            </a:r>
            <a:r>
              <a:rPr lang="en-US" dirty="0" err="1" smtClean="0"/>
              <a:t>LoadRunner</a:t>
            </a:r>
            <a:r>
              <a:rPr lang="en-US" dirty="0" smtClean="0"/>
              <a:t>, </a:t>
            </a:r>
            <a:r>
              <a:rPr lang="en-US" dirty="0" err="1"/>
              <a:t>Jmeter</a:t>
            </a:r>
            <a:endParaRPr lang="en-US" dirty="0" smtClean="0"/>
          </a:p>
          <a:p>
            <a:pPr>
              <a:defRPr/>
            </a:pPr>
            <a:r>
              <a:rPr lang="en-US" dirty="0" smtClean="0"/>
              <a:t>Testing Management Tools</a:t>
            </a:r>
          </a:p>
          <a:p>
            <a:pPr lvl="1">
              <a:defRPr/>
            </a:pPr>
            <a:r>
              <a:rPr lang="en-US" dirty="0" err="1"/>
              <a:t>TestManager</a:t>
            </a:r>
            <a:r>
              <a:rPr lang="en-US" dirty="0" smtClean="0"/>
              <a:t>, </a:t>
            </a:r>
            <a:r>
              <a:rPr lang="en-US" dirty="0" err="1"/>
              <a:t>TestDirector</a:t>
            </a:r>
            <a:r>
              <a:rPr lang="en-US" dirty="0" smtClean="0"/>
              <a:t> </a:t>
            </a:r>
          </a:p>
          <a:p>
            <a:pPr>
              <a:defRPr/>
            </a:pPr>
            <a:r>
              <a:rPr lang="en-US" dirty="0" smtClean="0"/>
              <a:t>Bug Tracking/Configuration Management Tools</a:t>
            </a:r>
          </a:p>
          <a:p>
            <a:pPr lvl="1">
              <a:defRPr/>
            </a:pPr>
            <a:r>
              <a:rPr lang="en-US" dirty="0" err="1" smtClean="0"/>
              <a:t>Bugzilla</a:t>
            </a:r>
            <a:r>
              <a:rPr lang="en-US" dirty="0" smtClean="0"/>
              <a:t>, Jitterbug, </a:t>
            </a:r>
            <a:r>
              <a:rPr lang="en-US"/>
              <a:t>SilkRadar</a:t>
            </a:r>
            <a:endParaRPr lang="en-US" dirty="0" smtClean="0"/>
          </a:p>
        </p:txBody>
      </p:sp>
    </p:spTree>
    <p:extLst>
      <p:ext uri="{BB962C8B-B14F-4D97-AF65-F5344CB8AC3E}">
        <p14:creationId xmlns:p14="http://schemas.microsoft.com/office/powerpoint/2010/main" val="160871057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381000" y="457200"/>
            <a:ext cx="7772400" cy="1143000"/>
          </a:xfrm>
        </p:spPr>
        <p:txBody>
          <a:bodyPr lIns="92075" tIns="46038" rIns="92075" bIns="46038">
            <a:normAutofit/>
          </a:bodyPr>
          <a:lstStyle/>
          <a:p>
            <a:pPr eaLnBrk="1" hangingPunct="1"/>
            <a:r>
              <a:rPr lang="en-US" dirty="0" smtClean="0"/>
              <a:t>When to Stop Testing</a:t>
            </a:r>
          </a:p>
        </p:txBody>
      </p:sp>
      <p:sp>
        <p:nvSpPr>
          <p:cNvPr id="43011" name="Rectangle 3"/>
          <p:cNvSpPr>
            <a:spLocks noGrp="1" noChangeArrowheads="1"/>
          </p:cNvSpPr>
          <p:nvPr>
            <p:ph idx="1"/>
          </p:nvPr>
        </p:nvSpPr>
        <p:spPr>
          <a:xfrm>
            <a:off x="304800" y="1524000"/>
            <a:ext cx="7772400" cy="4648200"/>
          </a:xfrm>
        </p:spPr>
        <p:txBody>
          <a:bodyPr lIns="92075" tIns="46038" rIns="92075" bIns="46038"/>
          <a:lstStyle/>
          <a:p>
            <a:pPr eaLnBrk="1" hangingPunct="1"/>
            <a:r>
              <a:rPr lang="en-US" sz="3200" dirty="0" smtClean="0"/>
              <a:t>No time left</a:t>
            </a:r>
          </a:p>
          <a:p>
            <a:pPr eaLnBrk="1" hangingPunct="1"/>
            <a:r>
              <a:rPr lang="en-US" sz="3200" dirty="0" smtClean="0"/>
              <a:t>No money left</a:t>
            </a:r>
          </a:p>
          <a:p>
            <a:pPr eaLnBrk="1" hangingPunct="1"/>
            <a:r>
              <a:rPr lang="en-US" sz="3200" dirty="0" smtClean="0"/>
              <a:t>Statistical Criteria</a:t>
            </a:r>
          </a:p>
          <a:p>
            <a:pPr lvl="1" eaLnBrk="1" hangingPunct="1"/>
            <a:r>
              <a:rPr lang="en-US" dirty="0" smtClean="0"/>
              <a:t>Number of defects found per week becomes lower than a set threshold</a:t>
            </a:r>
          </a:p>
          <a:p>
            <a:pPr eaLnBrk="1" hangingPunct="1"/>
            <a:endParaRPr lang="en-US" sz="3200" dirty="0" smtClean="0"/>
          </a:p>
          <a:p>
            <a:pPr eaLnBrk="1" hangingPunct="1"/>
            <a:endParaRPr lang="en-US" sz="3200" dirty="0" smtClean="0"/>
          </a:p>
          <a:p>
            <a:pPr eaLnBrk="1" hangingPunct="1"/>
            <a:endParaRPr lang="en-US" sz="3200" dirty="0" smtClean="0"/>
          </a:p>
          <a:p>
            <a:pPr eaLnBrk="1" hangingPunct="1"/>
            <a:endParaRPr lang="en-US" sz="3200" dirty="0" smtClean="0"/>
          </a:p>
          <a:p>
            <a:pPr eaLnBrk="1" hangingPunct="1"/>
            <a:endParaRPr lang="en-US" sz="3200" dirty="0" smtClean="0"/>
          </a:p>
          <a:p>
            <a:pPr lvl="2" eaLnBrk="1" hangingPunct="1">
              <a:buFont typeface="Lucida Sans Unicode" pitchFamily="34" charset="0"/>
              <a:buNone/>
            </a:pPr>
            <a:endParaRPr lang="en-US" sz="2600" dirty="0" smtClean="0"/>
          </a:p>
        </p:txBody>
      </p:sp>
    </p:spTree>
    <p:extLst>
      <p:ext uri="{BB962C8B-B14F-4D97-AF65-F5344CB8AC3E}">
        <p14:creationId xmlns:p14="http://schemas.microsoft.com/office/powerpoint/2010/main" val="3691089274"/>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smtClean="0"/>
              <a:t>UCF Slides</a:t>
            </a:r>
          </a:p>
          <a:p>
            <a:r>
              <a:rPr lang="en-US" dirty="0" smtClean="0"/>
              <a:t>Software Testing, A Craftsman’s Approach by Jorgensen</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26189</TotalTime>
  <Words>1593</Words>
  <Application>Microsoft Office PowerPoint</Application>
  <PresentationFormat>On-screen Show (4:3)</PresentationFormat>
  <Paragraphs>317</Paragraphs>
  <Slides>42</Slides>
  <Notes>29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42</vt:i4>
      </vt:variant>
    </vt:vector>
  </HeadingPairs>
  <TitlesOfParts>
    <vt:vector size="51" baseType="lpstr">
      <vt:lpstr>Arial</vt:lpstr>
      <vt:lpstr>Arial MT</vt:lpstr>
      <vt:lpstr>Calibri</vt:lpstr>
      <vt:lpstr>Cambria Math</vt:lpstr>
      <vt:lpstr>Constantia</vt:lpstr>
      <vt:lpstr>Lucida Sans Unicode</vt:lpstr>
      <vt:lpstr>Times New Roman</vt:lpstr>
      <vt:lpstr>Wingdings 2</vt:lpstr>
      <vt:lpstr>Flow</vt:lpstr>
      <vt:lpstr>Software Testing </vt:lpstr>
      <vt:lpstr>Software Faults and Failures Why Does Software Fail?</vt:lpstr>
      <vt:lpstr>Software Faults and Failures Why Does Software Fail?</vt:lpstr>
      <vt:lpstr>Objective of Testing</vt:lpstr>
      <vt:lpstr>Elements of a Test Case</vt:lpstr>
      <vt:lpstr>Types of Faults</vt:lpstr>
      <vt:lpstr>Software Faults and Failures Typical Algorithmic Faults</vt:lpstr>
      <vt:lpstr>Different Level of Failure Severity</vt:lpstr>
      <vt:lpstr>Testing Issues Who Performs the Test?</vt:lpstr>
      <vt:lpstr>Testing Issues Views of the Test Objects</vt:lpstr>
      <vt:lpstr>Test Cases for Triangle Problem </vt:lpstr>
      <vt:lpstr>Whitebox Testing Control Flow Graph</vt:lpstr>
      <vt:lpstr>Boundary Value Analysis</vt:lpstr>
      <vt:lpstr>Example</vt:lpstr>
      <vt:lpstr>Example</vt:lpstr>
      <vt:lpstr>Equivalence and Boundary Value</vt:lpstr>
      <vt:lpstr>Equivalence and Boundary Value</vt:lpstr>
      <vt:lpstr> Levels of Testing</vt:lpstr>
      <vt:lpstr>Levels of Testing Testing Organization Illustrated</vt:lpstr>
      <vt:lpstr>Unit Testing Code Review</vt:lpstr>
      <vt:lpstr>Unit Testing Steps in Testing </vt:lpstr>
      <vt:lpstr>Unit Testing</vt:lpstr>
      <vt:lpstr>Integration Testing</vt:lpstr>
      <vt:lpstr>Integration Testing Terminology</vt:lpstr>
      <vt:lpstr>Integration Testing</vt:lpstr>
      <vt:lpstr>Integration Testing  Bing-Bang Integration Example</vt:lpstr>
      <vt:lpstr>Integration Testing Top-Down Integration Example</vt:lpstr>
      <vt:lpstr>Integration Testing Top-Down Integration Example</vt:lpstr>
      <vt:lpstr>Integration Testing Bottom-Up Integration Example</vt:lpstr>
      <vt:lpstr>Integration Testing Bottom-Up Integration Example</vt:lpstr>
      <vt:lpstr>Integration Testing  Sandwich Integration Example</vt:lpstr>
      <vt:lpstr>System Testing</vt:lpstr>
      <vt:lpstr>Steps to do System Testing</vt:lpstr>
      <vt:lpstr>Principles of System Testing Regression Testing</vt:lpstr>
      <vt:lpstr>Principles of System Testing Regression Testing Steps</vt:lpstr>
      <vt:lpstr>Acceptance Tests Purpose and Roles</vt:lpstr>
      <vt:lpstr>Acceptance Tests Types of Acceptance Tests</vt:lpstr>
      <vt:lpstr>Result of Acceptance Tests</vt:lpstr>
      <vt:lpstr>Installation Testing</vt:lpstr>
      <vt:lpstr>Software Testing Tools</vt:lpstr>
      <vt:lpstr>When to Stop Testing</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dc:title>
  <dc:creator>HS</dc:creator>
  <cp:lastModifiedBy>Ansa Liaqat</cp:lastModifiedBy>
  <cp:revision>155</cp:revision>
  <dcterms:modified xsi:type="dcterms:W3CDTF">2026-04-16T13:13:36Z</dcterms:modified>
</cp:coreProperties>
</file>